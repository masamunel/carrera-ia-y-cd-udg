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17.png" ContentType="image/png"/>
  <Override PartName="/ppt/media/image8.png" ContentType="image/png"/>
  <Override PartName="/ppt/media/image7.png" ContentType="image/png"/>
  <Override PartName="/ppt/media/image16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13.png" ContentType="image/png"/>
  <Override PartName="/ppt/media/image4.png" ContentType="image/png"/>
  <Override PartName="/ppt/media/image34.png" ContentType="image/png"/>
  <Override PartName="/ppt/media/image2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1.png" ContentType="image/png"/>
  <Override PartName="/ppt/media/image9.jpeg" ContentType="image/jpeg"/>
  <Override PartName="/ppt/media/image18.png" ContentType="image/png"/>
  <Override PartName="/ppt/media/image20.png" ContentType="image/png"/>
  <Override PartName="/ppt/media/image19.jpeg" ContentType="image/jpeg"/>
  <Override PartName="/ppt/media/image21.png" ContentType="image/png"/>
  <Override PartName="/ppt/media/image22.png" ContentType="image/png"/>
  <Override PartName="/ppt/media/image2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6D097A-9E90-4AEC-BFA8-D1F7315558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A91D9C-37AC-4DDC-834A-10E08D596C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F6709AF-0CE3-40DF-A21E-650272E1A2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7BB2071-AFF5-41A2-B94A-C737BFBF11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D792432-5FFF-49A0-BD54-CAF0E90C4C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267257C-FC1C-4F21-98D3-06A44C8FB8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A2C9D76-69DB-4A92-9988-08DE3120E8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C9D7A58-DED5-428C-A1A1-AAD79029DB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023728B-27B2-4990-93A2-1248A9FB8C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643ECBD-3140-4B66-8B2D-6F9CD3D93E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F250AF0-8164-4073-95C1-5D9C3CA05A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649876-72A0-4EDD-BC0E-66081E1E7E3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EF219A-101A-40B2-9D51-E4682BE9132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8B53CC-E1FC-40A7-9303-A1A13D7E472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3A6277-0F44-4057-9E26-28A96775C02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0928AA-4CBB-441A-A65A-82BA4DEB010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347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8A8ECA-883F-4C54-A9B6-9C51C7ADDA2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3F0168-5292-4483-960E-DA00B3CBA43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AEB86E-8768-4E99-9327-E71F8D37037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80385F-676E-4867-AA39-290FB50D55D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CD20BB-0C84-4E01-A4A8-7F9EE99A4DA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499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2B5162-7E69-4A54-A921-ADF9B42E93F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jpeg"/><Relationship Id="rId8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4.png"/><Relationship Id="rId9" Type="http://schemas.openxmlformats.org/officeDocument/2006/relationships/image" Target="../media/image23.png"/><Relationship Id="rId10" Type="http://schemas.openxmlformats.org/officeDocument/2006/relationships/image" Target="../media/image23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85;p13"/>
          <p:cNvSpPr/>
          <p:nvPr/>
        </p:nvSpPr>
        <p:spPr>
          <a:xfrm>
            <a:off x="295200" y="2046960"/>
            <a:ext cx="11601000" cy="9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380" spc="-1" strike="noStrike">
                <a:solidFill>
                  <a:srgbClr val="ffc000"/>
                </a:solidFill>
                <a:latin typeface="Urbanist"/>
                <a:ea typeface="Urbanist"/>
              </a:rPr>
              <a:t>Hermes</a:t>
            </a:r>
            <a:endParaRPr b="0" lang="en-US" sz="6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86;p13"/>
          <p:cNvSpPr/>
          <p:nvPr/>
        </p:nvSpPr>
        <p:spPr>
          <a:xfrm>
            <a:off x="571680" y="3047040"/>
            <a:ext cx="110487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cbd5e1"/>
                </a:solidFill>
                <a:latin typeface="Urbanist"/>
                <a:ea typeface="Urbanist"/>
              </a:rPr>
              <a:t>Productividad Potenciada por IA y Gamificación para la Red Universitaria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87;p13"/>
          <p:cNvSpPr/>
          <p:nvPr/>
        </p:nvSpPr>
        <p:spPr>
          <a:xfrm>
            <a:off x="571680" y="4353840"/>
            <a:ext cx="110487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4af37"/>
                </a:solidFill>
                <a:latin typeface="Urbanist"/>
                <a:ea typeface="Urbanist"/>
              </a:rPr>
              <a:t>Ingeniería de Software 2026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Imagen 2" descr=""/>
          <p:cNvPicPr/>
          <p:nvPr/>
        </p:nvPicPr>
        <p:blipFill>
          <a:blip r:embed="rId2"/>
          <a:stretch/>
        </p:blipFill>
        <p:spPr>
          <a:xfrm>
            <a:off x="7779960" y="147240"/>
            <a:ext cx="3047760" cy="3006360"/>
          </a:xfrm>
          <a:prstGeom prst="rect">
            <a:avLst/>
          </a:prstGeom>
          <a:ln w="0">
            <a:noFill/>
          </a:ln>
        </p:spPr>
      </p:pic>
      <p:pic>
        <p:nvPicPr>
          <p:cNvPr id="72" name="Imagen 6" descr=""/>
          <p:cNvPicPr/>
          <p:nvPr/>
        </p:nvPicPr>
        <p:blipFill>
          <a:blip r:embed="rId3"/>
          <a:stretch/>
        </p:blipFill>
        <p:spPr>
          <a:xfrm>
            <a:off x="571680" y="185760"/>
            <a:ext cx="3047760" cy="304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92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74" name="Google Shape;93;p14" descr="image.png"/>
          <p:cNvPicPr/>
          <p:nvPr/>
        </p:nvPicPr>
        <p:blipFill>
          <a:blip r:embed="rId2"/>
          <a:stretch/>
        </p:blipFill>
        <p:spPr>
          <a:xfrm>
            <a:off x="6334200" y="2352600"/>
            <a:ext cx="5285880" cy="304776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95;p14"/>
          <p:cNvSpPr/>
          <p:nvPr/>
        </p:nvSpPr>
        <p:spPr>
          <a:xfrm>
            <a:off x="952560" y="2505240"/>
            <a:ext cx="4905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Estrés Académico:</a:t>
            </a: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 La falta de organización es la principal causa de deserción.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Google Shape;96;p14"/>
          <p:cNvSpPr/>
          <p:nvPr/>
        </p:nvSpPr>
        <p:spPr>
          <a:xfrm>
            <a:off x="952560" y="3228840"/>
            <a:ext cx="4905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Mercado Masivo:</a:t>
            </a: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 339,508 estudiantes necesitan una herramienta centralizada.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Google Shape;97;p14"/>
          <p:cNvSpPr/>
          <p:nvPr/>
        </p:nvSpPr>
        <p:spPr>
          <a:xfrm>
            <a:off x="952560" y="3952800"/>
            <a:ext cx="4905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Seguridad:</a:t>
            </a: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 Autenticación exclusiva vía correo institucional (@alumnos.udg.mx).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Google Shape;98;p14"/>
          <p:cNvSpPr/>
          <p:nvPr/>
        </p:nvSpPr>
        <p:spPr>
          <a:xfrm>
            <a:off x="952560" y="4676760"/>
            <a:ext cx="4905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Fricción de Uso:</a:t>
            </a: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 Agendar manualmente es aburrido; nuestra IA lo hace por ti.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Google Shape;99;p14" descr="image.png"/>
          <p:cNvPicPr/>
          <p:nvPr/>
        </p:nvPicPr>
        <p:blipFill>
          <a:blip r:embed="rId3"/>
          <a:stretch/>
        </p:blipFill>
        <p:spPr>
          <a:xfrm>
            <a:off x="571680" y="2543040"/>
            <a:ext cx="228240" cy="247320"/>
          </a:xfrm>
          <a:prstGeom prst="rect">
            <a:avLst/>
          </a:prstGeom>
          <a:ln w="0">
            <a:noFill/>
          </a:ln>
        </p:spPr>
      </p:pic>
      <p:pic>
        <p:nvPicPr>
          <p:cNvPr id="80" name="Google Shape;100;p14" descr="image.png"/>
          <p:cNvPicPr/>
          <p:nvPr/>
        </p:nvPicPr>
        <p:blipFill>
          <a:blip r:embed="rId4"/>
          <a:stretch/>
        </p:blipFill>
        <p:spPr>
          <a:xfrm>
            <a:off x="571680" y="3267000"/>
            <a:ext cx="285480" cy="247320"/>
          </a:xfrm>
          <a:prstGeom prst="rect">
            <a:avLst/>
          </a:prstGeom>
          <a:ln w="0">
            <a:noFill/>
          </a:ln>
        </p:spPr>
      </p:pic>
      <p:pic>
        <p:nvPicPr>
          <p:cNvPr id="81" name="Google Shape;101;p14" descr="image.png"/>
          <p:cNvPicPr/>
          <p:nvPr/>
        </p:nvPicPr>
        <p:blipFill>
          <a:blip r:embed="rId5"/>
          <a:stretch/>
        </p:blipFill>
        <p:spPr>
          <a:xfrm>
            <a:off x="571680" y="3990960"/>
            <a:ext cx="199800" cy="247320"/>
          </a:xfrm>
          <a:prstGeom prst="rect">
            <a:avLst/>
          </a:prstGeom>
          <a:ln w="0">
            <a:noFill/>
          </a:ln>
        </p:spPr>
      </p:pic>
      <p:pic>
        <p:nvPicPr>
          <p:cNvPr id="82" name="Google Shape;102;p14" descr="image.png"/>
          <p:cNvPicPr/>
          <p:nvPr/>
        </p:nvPicPr>
        <p:blipFill>
          <a:blip r:embed="rId6"/>
          <a:stretch/>
        </p:blipFill>
        <p:spPr>
          <a:xfrm>
            <a:off x="571680" y="4714920"/>
            <a:ext cx="228240" cy="247320"/>
          </a:xfrm>
          <a:prstGeom prst="rect">
            <a:avLst/>
          </a:prstGeom>
          <a:ln w="0">
            <a:noFill/>
          </a:ln>
        </p:spPr>
      </p:pic>
      <p:sp>
        <p:nvSpPr>
          <p:cNvPr id="83" name="Google Shape;103;p14"/>
          <p:cNvSpPr/>
          <p:nvPr/>
        </p:nvSpPr>
        <p:spPr>
          <a:xfrm>
            <a:off x="762120" y="571680"/>
            <a:ext cx="114012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80" spc="-1" strike="noStrike">
                <a:solidFill>
                  <a:srgbClr val="f8fafc"/>
                </a:solidFill>
                <a:latin typeface="Urbanist"/>
                <a:ea typeface="Urbanist"/>
              </a:rPr>
              <a:t>Justificación del Proyecto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Google Shape;104;p14"/>
          <p:cNvSpPr/>
          <p:nvPr/>
        </p:nvSpPr>
        <p:spPr>
          <a:xfrm>
            <a:off x="571680" y="571680"/>
            <a:ext cx="56880" cy="51408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85" name="Imagen 1" descr="Regresan a clases 288 mil alumnos de la Universidad de Guadalajara |  Escuela Preparatoria Regional de Jocotepec"/>
          <p:cNvPicPr/>
          <p:nvPr/>
        </p:nvPicPr>
        <p:blipFill>
          <a:blip r:embed="rId7"/>
          <a:stretch/>
        </p:blipFill>
        <p:spPr>
          <a:xfrm>
            <a:off x="6539040" y="2352600"/>
            <a:ext cx="4719600" cy="315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09;p15" descr="image.png"/>
          <p:cNvPicPr/>
          <p:nvPr/>
        </p:nvPicPr>
        <p:blipFill>
          <a:blip r:embed="rId1"/>
          <a:stretch/>
        </p:blipFill>
        <p:spPr>
          <a:xfrm>
            <a:off x="0" y="-7632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10;p15" descr="image.png"/>
          <p:cNvPicPr/>
          <p:nvPr/>
        </p:nvPicPr>
        <p:blipFill>
          <a:blip r:embed="rId2"/>
          <a:stretch/>
        </p:blipFill>
        <p:spPr>
          <a:xfrm>
            <a:off x="571680" y="1467000"/>
            <a:ext cx="5285880" cy="5324040"/>
          </a:xfrm>
          <a:prstGeom prst="rect">
            <a:avLst/>
          </a:prstGeom>
          <a:ln w="0">
            <a:noFill/>
          </a:ln>
        </p:spPr>
      </p:pic>
      <p:pic>
        <p:nvPicPr>
          <p:cNvPr id="88" name="Google Shape;111;p15" descr="image.png"/>
          <p:cNvPicPr/>
          <p:nvPr/>
        </p:nvPicPr>
        <p:blipFill>
          <a:blip r:embed="rId3"/>
          <a:stretch/>
        </p:blipFill>
        <p:spPr>
          <a:xfrm>
            <a:off x="6324480" y="3288600"/>
            <a:ext cx="5285880" cy="780840"/>
          </a:xfrm>
          <a:prstGeom prst="rect">
            <a:avLst/>
          </a:prstGeom>
          <a:ln w="0">
            <a:noFill/>
          </a:ln>
        </p:spPr>
      </p:pic>
      <p:pic>
        <p:nvPicPr>
          <p:cNvPr id="89" name="Google Shape;112;p15" descr="image.png"/>
          <p:cNvPicPr/>
          <p:nvPr/>
        </p:nvPicPr>
        <p:blipFill>
          <a:blip r:embed="rId4"/>
          <a:stretch/>
        </p:blipFill>
        <p:spPr>
          <a:xfrm>
            <a:off x="581040" y="1476360"/>
            <a:ext cx="5266800" cy="5304960"/>
          </a:xfrm>
          <a:prstGeom prst="rect">
            <a:avLst/>
          </a:prstGeom>
          <a:ln w="0">
            <a:noFill/>
          </a:ln>
        </p:spPr>
      </p:pic>
      <p:sp>
        <p:nvSpPr>
          <p:cNvPr id="90" name="Google Shape;113;p15"/>
          <p:cNvSpPr/>
          <p:nvPr/>
        </p:nvSpPr>
        <p:spPr>
          <a:xfrm>
            <a:off x="6334200" y="1476360"/>
            <a:ext cx="55504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8fafc"/>
                </a:solidFill>
                <a:latin typeface="Urbanist"/>
                <a:ea typeface="Urbanist"/>
              </a:rPr>
              <a:t>Chatbot con Gemini API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114;p15"/>
          <p:cNvSpPr/>
          <p:nvPr/>
        </p:nvSpPr>
        <p:spPr>
          <a:xfrm>
            <a:off x="6324480" y="2036160"/>
            <a:ext cx="528588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94a3b8"/>
                </a:solidFill>
                <a:latin typeface="Urbanist"/>
                <a:ea typeface="Urbanist"/>
              </a:rPr>
              <a:t>No más formularios complejos. Simplemente dile al chatbot: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115;p15"/>
          <p:cNvSpPr/>
          <p:nvPr/>
        </p:nvSpPr>
        <p:spPr>
          <a:xfrm>
            <a:off x="6334200" y="4686480"/>
            <a:ext cx="5285880" cy="12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94a3b8"/>
                </a:solidFill>
                <a:latin typeface="Urbanist"/>
                <a:ea typeface="Urbanist"/>
              </a:rPr>
              <a:t>El sistema entiende el contexto, extrae los datos y sincroniza automáticamente con Google Calendar.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116;p15"/>
          <p:cNvSpPr/>
          <p:nvPr/>
        </p:nvSpPr>
        <p:spPr>
          <a:xfrm>
            <a:off x="762120" y="571680"/>
            <a:ext cx="114012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80" spc="-1" strike="noStrike">
                <a:solidFill>
                  <a:srgbClr val="f8fafc"/>
                </a:solidFill>
                <a:latin typeface="Urbanist"/>
                <a:ea typeface="Urbanist"/>
              </a:rPr>
              <a:t>La Web App Inteligente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Google Shape;117;p15"/>
          <p:cNvSpPr/>
          <p:nvPr/>
        </p:nvSpPr>
        <p:spPr>
          <a:xfrm>
            <a:off x="571680" y="571680"/>
            <a:ext cx="56880" cy="51408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122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96" name="Google Shape;123;p16" descr="image.png"/>
          <p:cNvPicPr/>
          <p:nvPr/>
        </p:nvPicPr>
        <p:blipFill>
          <a:blip r:embed="rId2"/>
          <a:stretch/>
        </p:blipFill>
        <p:spPr>
          <a:xfrm>
            <a:off x="571680" y="2371680"/>
            <a:ext cx="3492360" cy="300960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124;p16" descr="image.png"/>
          <p:cNvPicPr/>
          <p:nvPr/>
        </p:nvPicPr>
        <p:blipFill>
          <a:blip r:embed="rId3"/>
          <a:stretch/>
        </p:blipFill>
        <p:spPr>
          <a:xfrm>
            <a:off x="4349880" y="2371680"/>
            <a:ext cx="3492360" cy="3009600"/>
          </a:xfrm>
          <a:prstGeom prst="rect">
            <a:avLst/>
          </a:prstGeom>
          <a:ln w="0">
            <a:noFill/>
          </a:ln>
        </p:spPr>
      </p:pic>
      <p:pic>
        <p:nvPicPr>
          <p:cNvPr id="98" name="Google Shape;125;p16" descr="image.png"/>
          <p:cNvPicPr/>
          <p:nvPr/>
        </p:nvPicPr>
        <p:blipFill>
          <a:blip r:embed="rId4"/>
          <a:stretch/>
        </p:blipFill>
        <p:spPr>
          <a:xfrm>
            <a:off x="8128080" y="2371680"/>
            <a:ext cx="3492360" cy="3009600"/>
          </a:xfrm>
          <a:prstGeom prst="rect">
            <a:avLst/>
          </a:prstGeom>
          <a:ln w="0">
            <a:noFill/>
          </a:ln>
        </p:spPr>
      </p:pic>
      <p:sp>
        <p:nvSpPr>
          <p:cNvPr id="99" name="Google Shape;126;p16"/>
          <p:cNvSpPr/>
          <p:nvPr/>
        </p:nvSpPr>
        <p:spPr>
          <a:xfrm>
            <a:off x="884160" y="3457440"/>
            <a:ext cx="286668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8fafc"/>
                </a:solidFill>
                <a:latin typeface="Urbanist"/>
                <a:ea typeface="Urbanist"/>
              </a:rPr>
              <a:t>IA Proactiva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27;p16"/>
          <p:cNvSpPr/>
          <p:nvPr/>
        </p:nvSpPr>
        <p:spPr>
          <a:xfrm>
            <a:off x="952560" y="3971880"/>
            <a:ext cx="2730240" cy="13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Uso de </a:t>
            </a:r>
            <a:r>
              <a:rPr b="1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LangGraph</a:t>
            </a:r>
            <a:r>
              <a:rPr b="0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 para flujos de conversación complejos que aprenden de tus hábitos</a:t>
            </a: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128;p16"/>
          <p:cNvSpPr/>
          <p:nvPr/>
        </p:nvSpPr>
        <p:spPr>
          <a:xfrm>
            <a:off x="4662360" y="3457440"/>
            <a:ext cx="286668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8fafc"/>
                </a:solidFill>
                <a:latin typeface="Urbanist"/>
                <a:ea typeface="Urbanist"/>
              </a:rPr>
              <a:t>Gamificación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129;p16"/>
          <p:cNvSpPr/>
          <p:nvPr/>
        </p:nvSpPr>
        <p:spPr>
          <a:xfrm>
            <a:off x="4730760" y="3971880"/>
            <a:ext cx="273024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Sistema de puntos por cada tarea completada. Convierte el estudio en un juego</a:t>
            </a: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30;p16"/>
          <p:cNvSpPr/>
          <p:nvPr/>
        </p:nvSpPr>
        <p:spPr>
          <a:xfrm>
            <a:off x="8440920" y="3457440"/>
            <a:ext cx="286668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8fafc"/>
                </a:solidFill>
                <a:latin typeface="Urbanist"/>
                <a:ea typeface="Urbanist"/>
              </a:rPr>
              <a:t>Ranking Social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31;p16"/>
          <p:cNvSpPr/>
          <p:nvPr/>
        </p:nvSpPr>
        <p:spPr>
          <a:xfrm>
            <a:off x="8508960" y="3971880"/>
            <a:ext cx="273024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Compite con tus amigos de la facultad por el primer lugar en productividad.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5" name="Google Shape;132;p16" descr="image.png"/>
          <p:cNvPicPr/>
          <p:nvPr/>
        </p:nvPicPr>
        <p:blipFill>
          <a:blip r:embed="rId5"/>
          <a:stretch/>
        </p:blipFill>
        <p:spPr>
          <a:xfrm>
            <a:off x="2050920" y="2790720"/>
            <a:ext cx="533160" cy="428400"/>
          </a:xfrm>
          <a:prstGeom prst="rect">
            <a:avLst/>
          </a:prstGeom>
          <a:ln w="0">
            <a:noFill/>
          </a:ln>
        </p:spPr>
      </p:pic>
      <p:pic>
        <p:nvPicPr>
          <p:cNvPr id="106" name="Google Shape;133;p16" descr="image.png"/>
          <p:cNvPicPr/>
          <p:nvPr/>
        </p:nvPicPr>
        <p:blipFill>
          <a:blip r:embed="rId6"/>
          <a:stretch/>
        </p:blipFill>
        <p:spPr>
          <a:xfrm>
            <a:off x="5829480" y="2790720"/>
            <a:ext cx="533160" cy="428400"/>
          </a:xfrm>
          <a:prstGeom prst="rect">
            <a:avLst/>
          </a:prstGeom>
          <a:ln w="0">
            <a:noFill/>
          </a:ln>
        </p:spPr>
      </p:pic>
      <p:pic>
        <p:nvPicPr>
          <p:cNvPr id="107" name="Google Shape;134;p16" descr="image.png"/>
          <p:cNvPicPr/>
          <p:nvPr/>
        </p:nvPicPr>
        <p:blipFill>
          <a:blip r:embed="rId7"/>
          <a:stretch/>
        </p:blipFill>
        <p:spPr>
          <a:xfrm>
            <a:off x="9631440" y="2790720"/>
            <a:ext cx="485280" cy="428400"/>
          </a:xfrm>
          <a:prstGeom prst="rect">
            <a:avLst/>
          </a:prstGeom>
          <a:ln w="0">
            <a:noFill/>
          </a:ln>
        </p:spPr>
      </p:pic>
      <p:sp>
        <p:nvSpPr>
          <p:cNvPr id="108" name="Google Shape;135;p16"/>
          <p:cNvSpPr/>
          <p:nvPr/>
        </p:nvSpPr>
        <p:spPr>
          <a:xfrm>
            <a:off x="762120" y="571680"/>
            <a:ext cx="114012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80" spc="-1" strike="noStrike">
                <a:solidFill>
                  <a:srgbClr val="f8fafc"/>
                </a:solidFill>
                <a:latin typeface="Urbanist"/>
                <a:ea typeface="Urbanist"/>
              </a:rPr>
              <a:t>¿Qué nos hace diferentes?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136;p16"/>
          <p:cNvSpPr/>
          <p:nvPr/>
        </p:nvSpPr>
        <p:spPr>
          <a:xfrm>
            <a:off x="571680" y="571680"/>
            <a:ext cx="56880" cy="51408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41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11" name="Google Shape;144;p17"/>
          <p:cNvSpPr/>
          <p:nvPr/>
        </p:nvSpPr>
        <p:spPr>
          <a:xfrm>
            <a:off x="392040" y="2409480"/>
            <a:ext cx="490500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94a3b8"/>
                </a:solidFill>
                <a:latin typeface="Urbanist"/>
                <a:ea typeface="Urbanist"/>
              </a:rPr>
              <a:t>Backend:</a:t>
            </a:r>
            <a:r>
              <a:rPr b="0" lang="en-US" sz="1800" spc="-1" strike="noStrike">
                <a:solidFill>
                  <a:srgbClr val="94a3b8"/>
                </a:solidFill>
                <a:latin typeface="Urbanist"/>
                <a:ea typeface="Urbanist"/>
              </a:rPr>
              <a:t> Python con </a:t>
            </a:r>
            <a:r>
              <a:rPr b="1" lang="en-US" sz="1800" spc="-1" strike="noStrike">
                <a:solidFill>
                  <a:srgbClr val="94a3b8"/>
                </a:solidFill>
                <a:latin typeface="Urbanist"/>
                <a:ea typeface="Urbanist"/>
              </a:rPr>
              <a:t>LangChain</a:t>
            </a:r>
            <a:r>
              <a:rPr b="0" lang="en-US" sz="1800" spc="-1" strike="noStrike">
                <a:solidFill>
                  <a:srgbClr val="94a3b8"/>
                </a:solidFill>
                <a:latin typeface="Urbanist"/>
                <a:ea typeface="Urbanist"/>
              </a:rPr>
              <a:t> para orquestación de LLM.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45;p17"/>
          <p:cNvSpPr/>
          <p:nvPr/>
        </p:nvSpPr>
        <p:spPr>
          <a:xfrm>
            <a:off x="392040" y="3379680"/>
            <a:ext cx="490500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IA:</a:t>
            </a:r>
            <a:r>
              <a:rPr b="0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 Google </a:t>
            </a:r>
            <a:r>
              <a:rPr b="1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Gemini 2.5 Flash</a:t>
            </a:r>
            <a:r>
              <a:rPr b="0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 para procesamiento de lenguaje natural.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46;p17"/>
          <p:cNvSpPr/>
          <p:nvPr/>
        </p:nvSpPr>
        <p:spPr>
          <a:xfrm>
            <a:off x="392040" y="4144680"/>
            <a:ext cx="490500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Infraestructura:</a:t>
            </a:r>
            <a:r>
              <a:rPr b="0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 Despliegue en contenedores </a:t>
            </a:r>
            <a:r>
              <a:rPr b="1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Docker</a:t>
            </a:r>
            <a:r>
              <a:rPr b="0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 para escalabilidad.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147;p17"/>
          <p:cNvSpPr/>
          <p:nvPr/>
        </p:nvSpPr>
        <p:spPr>
          <a:xfrm>
            <a:off x="392040" y="4970880"/>
            <a:ext cx="490500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Integración:</a:t>
            </a:r>
            <a:r>
              <a:rPr b="0" lang="en-US" sz="1600" spc="-1" strike="noStrike">
                <a:solidFill>
                  <a:srgbClr val="94a3b8"/>
                </a:solidFill>
                <a:latin typeface="Urbanist"/>
                <a:ea typeface="Urbanist"/>
              </a:rPr>
              <a:t> Google Calendar API para sincronización bidireccional.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148;p17"/>
          <p:cNvSpPr/>
          <p:nvPr/>
        </p:nvSpPr>
        <p:spPr>
          <a:xfrm>
            <a:off x="762120" y="571680"/>
            <a:ext cx="114012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80" spc="-1" strike="noStrike">
                <a:solidFill>
                  <a:srgbClr val="f8fafc"/>
                </a:solidFill>
                <a:latin typeface="Urbanist"/>
                <a:ea typeface="Urbanist"/>
              </a:rPr>
              <a:t>Arquitectura del Sistema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149;p17"/>
          <p:cNvSpPr/>
          <p:nvPr/>
        </p:nvSpPr>
        <p:spPr>
          <a:xfrm>
            <a:off x="571680" y="571680"/>
            <a:ext cx="56880" cy="51408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17" name="Imagen 2" descr=""/>
          <p:cNvPicPr/>
          <p:nvPr/>
        </p:nvPicPr>
        <p:blipFill>
          <a:blip r:embed="rId2"/>
          <a:stretch/>
        </p:blipFill>
        <p:spPr>
          <a:xfrm>
            <a:off x="5297400" y="2037600"/>
            <a:ext cx="6633000" cy="362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54;p18" descr="image.png"/>
          <p:cNvPicPr/>
          <p:nvPr/>
        </p:nvPicPr>
        <p:blipFill>
          <a:blip r:embed="rId1"/>
          <a:stretch/>
        </p:blipFill>
        <p:spPr>
          <a:xfrm>
            <a:off x="2844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19" name="Google Shape;156;p18" descr="image.png"/>
          <p:cNvPicPr/>
          <p:nvPr/>
        </p:nvPicPr>
        <p:blipFill>
          <a:blip r:embed="rId2"/>
          <a:stretch/>
        </p:blipFill>
        <p:spPr>
          <a:xfrm>
            <a:off x="571680" y="3610080"/>
            <a:ext cx="4236120" cy="1009440"/>
          </a:xfrm>
          <a:prstGeom prst="rect">
            <a:avLst/>
          </a:prstGeom>
          <a:ln w="0">
            <a:noFill/>
          </a:ln>
        </p:spPr>
      </p:pic>
      <p:sp>
        <p:nvSpPr>
          <p:cNvPr id="120" name="Google Shape;157;p18"/>
          <p:cNvSpPr/>
          <p:nvPr/>
        </p:nvSpPr>
        <p:spPr>
          <a:xfrm>
            <a:off x="571680" y="2119320"/>
            <a:ext cx="5285880" cy="12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94a3b8"/>
                </a:solidFill>
                <a:latin typeface="Urbanist"/>
                <a:ea typeface="Urbanist"/>
              </a:rPr>
              <a:t>Motivamos la finalización de tareas mediante un algoritmo de puntuación basado en prioridad y tiempo: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158;p18"/>
          <p:cNvSpPr/>
          <p:nvPr/>
        </p:nvSpPr>
        <p:spPr>
          <a:xfrm>
            <a:off x="571680" y="4817520"/>
            <a:ext cx="5285880" cy="12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94a3b8"/>
                </a:solidFill>
                <a:latin typeface="Urbanist"/>
                <a:ea typeface="Urbanist"/>
              </a:rPr>
              <a:t>En tiempo real, el ranking se actualiza mostrando quién es el estudiante más eficiente de la red.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2" name="Google Shape;160;p18" descr="image.png"/>
          <p:cNvPicPr/>
          <p:nvPr/>
        </p:nvPicPr>
        <p:blipFill>
          <a:blip r:embed="rId3"/>
          <a:stretch/>
        </p:blipFill>
        <p:spPr>
          <a:xfrm>
            <a:off x="725760" y="3929400"/>
            <a:ext cx="3927600" cy="370440"/>
          </a:xfrm>
          <a:prstGeom prst="rect">
            <a:avLst/>
          </a:prstGeom>
          <a:ln w="0">
            <a:noFill/>
          </a:ln>
        </p:spPr>
      </p:pic>
      <p:sp>
        <p:nvSpPr>
          <p:cNvPr id="123" name="Google Shape;161;p18"/>
          <p:cNvSpPr/>
          <p:nvPr/>
        </p:nvSpPr>
        <p:spPr>
          <a:xfrm>
            <a:off x="762120" y="571680"/>
            <a:ext cx="114012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80" spc="-1" strike="noStrike">
                <a:solidFill>
                  <a:srgbClr val="f8fafc"/>
                </a:solidFill>
                <a:latin typeface="Urbanist"/>
                <a:ea typeface="Urbanist"/>
              </a:rPr>
              <a:t>Dinámica de Recompensas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162;p18"/>
          <p:cNvSpPr/>
          <p:nvPr/>
        </p:nvSpPr>
        <p:spPr>
          <a:xfrm>
            <a:off x="571680" y="571680"/>
            <a:ext cx="56880" cy="51408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25" name="Imagen 2" descr=""/>
          <p:cNvPicPr/>
          <p:nvPr/>
        </p:nvPicPr>
        <p:blipFill>
          <a:blip r:embed="rId4"/>
          <a:srcRect l="0" t="2640" r="0" b="9833"/>
          <a:stretch/>
        </p:blipFill>
        <p:spPr>
          <a:xfrm>
            <a:off x="7097040" y="284040"/>
            <a:ext cx="3883680" cy="600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67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27" name="Google Shape;168;p19"/>
          <p:cNvGraphicFramePr/>
          <p:nvPr/>
        </p:nvGraphicFramePr>
        <p:xfrm>
          <a:off x="665280" y="2228760"/>
          <a:ext cx="11048760" cy="3303000"/>
        </p:xfrm>
        <a:graphic>
          <a:graphicData uri="http://schemas.openxmlformats.org/drawingml/2006/table">
            <a:tbl>
              <a:tblPr/>
              <a:tblGrid>
                <a:gridCol w="3128760"/>
                <a:gridCol w="2522520"/>
                <a:gridCol w="2425320"/>
                <a:gridCol w="2971440"/>
              </a:tblGrid>
              <a:tr h="660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50" spc="-1" strike="noStrike">
                          <a:solidFill>
                            <a:srgbClr val="d4af37"/>
                          </a:solidFill>
                          <a:latin typeface="Urbanist"/>
                          <a:ea typeface="Urbanist"/>
                        </a:rPr>
                        <a:t>Característica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50" spc="-1" strike="noStrike">
                          <a:solidFill>
                            <a:srgbClr val="d4af37"/>
                          </a:solidFill>
                          <a:latin typeface="Urbanist"/>
                          <a:ea typeface="Urbanist"/>
                        </a:rPr>
                        <a:t>Google Calendar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50" spc="-1" strike="noStrike">
                          <a:solidFill>
                            <a:srgbClr val="d4af37"/>
                          </a:solidFill>
                          <a:latin typeface="Urbanist"/>
                          <a:ea typeface="Urbanist"/>
                        </a:rPr>
                        <a:t>Any.do / Todoist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50" spc="-1" strike="noStrike">
                          <a:solidFill>
                            <a:srgbClr val="d4af37"/>
                          </a:solidFill>
                          <a:latin typeface="Urbanist"/>
                          <a:ea typeface="Urbanist"/>
                        </a:rPr>
                        <a:t>UdeG Smart Planner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0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Agendado por Voz/Chat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257040" rIns="63360" tIns="25200" bIns="25200" anchor="ctr">
                      <a:noAutofit/>
                    </a:bodyPr>
                    <a:p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  <a:ea typeface="Calibri"/>
                      </a:endParaRPr>
                    </a:p>
                  </a:txBody>
                  <a:tcPr anchor="ctr" marL="25704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Limitado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28548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(Se planea desarrollar)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8548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660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Gamificación Social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257040" rIns="63360" tIns="25200" bIns="25200" anchor="ctr">
                      <a:noAutofit/>
                    </a:bodyPr>
                    <a:p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  <a:ea typeface="Calibri"/>
                      </a:endParaRPr>
                    </a:p>
                  </a:txBody>
                  <a:tcPr anchor="ctr" marL="25704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No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28548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Ranking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8548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660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Acceso Institucional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Personal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Personal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28548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UdeG Auth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8548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660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Costo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Gratis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Premium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28548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</a:rPr>
                        <a:t>Gratuito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8548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69;p19"/>
          <p:cNvSpPr/>
          <p:nvPr/>
        </p:nvSpPr>
        <p:spPr>
          <a:xfrm>
            <a:off x="571680" y="3542400"/>
            <a:ext cx="312876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29" name="Google Shape;170;p19"/>
          <p:cNvSpPr/>
          <p:nvPr/>
        </p:nvSpPr>
        <p:spPr>
          <a:xfrm>
            <a:off x="3700440" y="3542400"/>
            <a:ext cx="252216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0" name="Google Shape;171;p19"/>
          <p:cNvSpPr/>
          <p:nvPr/>
        </p:nvSpPr>
        <p:spPr>
          <a:xfrm>
            <a:off x="6223320" y="3542400"/>
            <a:ext cx="242532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1" name="Google Shape;172;p19"/>
          <p:cNvSpPr/>
          <p:nvPr/>
        </p:nvSpPr>
        <p:spPr>
          <a:xfrm>
            <a:off x="8649000" y="3542400"/>
            <a:ext cx="297144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2" name="Google Shape;173;p19"/>
          <p:cNvSpPr/>
          <p:nvPr/>
        </p:nvSpPr>
        <p:spPr>
          <a:xfrm>
            <a:off x="571680" y="4199400"/>
            <a:ext cx="312876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3" name="Google Shape;174;p19"/>
          <p:cNvSpPr/>
          <p:nvPr/>
        </p:nvSpPr>
        <p:spPr>
          <a:xfrm>
            <a:off x="3700440" y="4199400"/>
            <a:ext cx="252216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4" name="Google Shape;175;p19"/>
          <p:cNvSpPr/>
          <p:nvPr/>
        </p:nvSpPr>
        <p:spPr>
          <a:xfrm>
            <a:off x="6223320" y="4199400"/>
            <a:ext cx="242532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5" name="Google Shape;176;p19"/>
          <p:cNvSpPr/>
          <p:nvPr/>
        </p:nvSpPr>
        <p:spPr>
          <a:xfrm>
            <a:off x="8649000" y="4199400"/>
            <a:ext cx="297144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6" name="Google Shape;177;p19"/>
          <p:cNvSpPr/>
          <p:nvPr/>
        </p:nvSpPr>
        <p:spPr>
          <a:xfrm>
            <a:off x="571680" y="4856760"/>
            <a:ext cx="312876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7" name="Google Shape;178;p19"/>
          <p:cNvSpPr/>
          <p:nvPr/>
        </p:nvSpPr>
        <p:spPr>
          <a:xfrm>
            <a:off x="3700440" y="4856760"/>
            <a:ext cx="252216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8" name="Google Shape;179;p19"/>
          <p:cNvSpPr/>
          <p:nvPr/>
        </p:nvSpPr>
        <p:spPr>
          <a:xfrm>
            <a:off x="6223320" y="4856760"/>
            <a:ext cx="242532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39" name="Google Shape;180;p19"/>
          <p:cNvSpPr/>
          <p:nvPr/>
        </p:nvSpPr>
        <p:spPr>
          <a:xfrm>
            <a:off x="8649000" y="4856760"/>
            <a:ext cx="297144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0" name="Google Shape;181;p19"/>
          <p:cNvSpPr/>
          <p:nvPr/>
        </p:nvSpPr>
        <p:spPr>
          <a:xfrm>
            <a:off x="571680" y="5513760"/>
            <a:ext cx="312876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1" name="Google Shape;182;p19"/>
          <p:cNvSpPr/>
          <p:nvPr/>
        </p:nvSpPr>
        <p:spPr>
          <a:xfrm>
            <a:off x="3700440" y="5513760"/>
            <a:ext cx="252216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2" name="Google Shape;183;p19"/>
          <p:cNvSpPr/>
          <p:nvPr/>
        </p:nvSpPr>
        <p:spPr>
          <a:xfrm>
            <a:off x="6223320" y="5513760"/>
            <a:ext cx="242532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3" name="Google Shape;184;p19"/>
          <p:cNvSpPr/>
          <p:nvPr/>
        </p:nvSpPr>
        <p:spPr>
          <a:xfrm>
            <a:off x="8649000" y="5513760"/>
            <a:ext cx="2971440" cy="90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44" name="Google Shape;185;p19" descr="image.png"/>
          <p:cNvPicPr/>
          <p:nvPr/>
        </p:nvPicPr>
        <p:blipFill>
          <a:blip r:embed="rId2"/>
          <a:stretch/>
        </p:blipFill>
        <p:spPr>
          <a:xfrm>
            <a:off x="8839440" y="4442400"/>
            <a:ext cx="171000" cy="190080"/>
          </a:xfrm>
          <a:prstGeom prst="rect">
            <a:avLst/>
          </a:prstGeom>
          <a:ln w="0">
            <a:noFill/>
          </a:ln>
        </p:spPr>
      </p:pic>
      <p:pic>
        <p:nvPicPr>
          <p:cNvPr id="145" name="Google Shape;186;p19" descr="image.png"/>
          <p:cNvPicPr/>
          <p:nvPr/>
        </p:nvPicPr>
        <p:blipFill>
          <a:blip r:embed="rId3"/>
          <a:stretch/>
        </p:blipFill>
        <p:spPr>
          <a:xfrm>
            <a:off x="3891240" y="3128040"/>
            <a:ext cx="142560" cy="190080"/>
          </a:xfrm>
          <a:prstGeom prst="rect">
            <a:avLst/>
          </a:prstGeom>
          <a:ln w="0">
            <a:noFill/>
          </a:ln>
        </p:spPr>
      </p:pic>
      <p:pic>
        <p:nvPicPr>
          <p:cNvPr id="146" name="Google Shape;187;p19" descr="image.png"/>
          <p:cNvPicPr/>
          <p:nvPr/>
        </p:nvPicPr>
        <p:blipFill>
          <a:blip r:embed="rId4"/>
          <a:stretch/>
        </p:blipFill>
        <p:spPr>
          <a:xfrm>
            <a:off x="8839440" y="5099760"/>
            <a:ext cx="171000" cy="190080"/>
          </a:xfrm>
          <a:prstGeom prst="rect">
            <a:avLst/>
          </a:prstGeom>
          <a:ln w="0">
            <a:noFill/>
          </a:ln>
        </p:spPr>
      </p:pic>
      <p:pic>
        <p:nvPicPr>
          <p:cNvPr id="147" name="Google Shape;188;p19" descr="image.png"/>
          <p:cNvPicPr/>
          <p:nvPr/>
        </p:nvPicPr>
        <p:blipFill>
          <a:blip r:embed="rId5"/>
          <a:stretch/>
        </p:blipFill>
        <p:spPr>
          <a:xfrm>
            <a:off x="3891240" y="3785040"/>
            <a:ext cx="142560" cy="190080"/>
          </a:xfrm>
          <a:prstGeom prst="rect">
            <a:avLst/>
          </a:prstGeom>
          <a:ln w="0">
            <a:noFill/>
          </a:ln>
        </p:spPr>
      </p:pic>
      <p:pic>
        <p:nvPicPr>
          <p:cNvPr id="148" name="Google Shape;190;p19" descr="image.png"/>
          <p:cNvPicPr/>
          <p:nvPr/>
        </p:nvPicPr>
        <p:blipFill>
          <a:blip r:embed="rId6"/>
          <a:stretch/>
        </p:blipFill>
        <p:spPr>
          <a:xfrm>
            <a:off x="8839440" y="3785040"/>
            <a:ext cx="171000" cy="190080"/>
          </a:xfrm>
          <a:prstGeom prst="rect">
            <a:avLst/>
          </a:prstGeom>
          <a:ln w="0">
            <a:noFill/>
          </a:ln>
        </p:spPr>
      </p:pic>
      <p:pic>
        <p:nvPicPr>
          <p:cNvPr id="149" name="Google Shape;191;p19" descr="image.png"/>
          <p:cNvPicPr/>
          <p:nvPr/>
        </p:nvPicPr>
        <p:blipFill>
          <a:blip r:embed="rId7"/>
          <a:stretch/>
        </p:blipFill>
        <p:spPr>
          <a:xfrm>
            <a:off x="3891240" y="3128040"/>
            <a:ext cx="142560" cy="190080"/>
          </a:xfrm>
          <a:prstGeom prst="rect">
            <a:avLst/>
          </a:prstGeom>
          <a:ln w="0">
            <a:noFill/>
          </a:ln>
        </p:spPr>
      </p:pic>
      <p:pic>
        <p:nvPicPr>
          <p:cNvPr id="150" name="Google Shape;193;p19" descr="image.png"/>
          <p:cNvPicPr/>
          <p:nvPr/>
        </p:nvPicPr>
        <p:blipFill>
          <a:blip r:embed="rId8"/>
          <a:stretch/>
        </p:blipFill>
        <p:spPr>
          <a:xfrm>
            <a:off x="3891240" y="3785040"/>
            <a:ext cx="142560" cy="190080"/>
          </a:xfrm>
          <a:prstGeom prst="rect">
            <a:avLst/>
          </a:prstGeom>
          <a:ln w="0">
            <a:noFill/>
          </a:ln>
        </p:spPr>
      </p:pic>
      <p:pic>
        <p:nvPicPr>
          <p:cNvPr id="151" name="Google Shape;194;p19" descr="image.png"/>
          <p:cNvPicPr/>
          <p:nvPr/>
        </p:nvPicPr>
        <p:blipFill>
          <a:blip r:embed="rId9"/>
          <a:stretch/>
        </p:blipFill>
        <p:spPr>
          <a:xfrm>
            <a:off x="8839440" y="3785040"/>
            <a:ext cx="171000" cy="190080"/>
          </a:xfrm>
          <a:prstGeom prst="rect">
            <a:avLst/>
          </a:prstGeom>
          <a:ln w="0">
            <a:noFill/>
          </a:ln>
        </p:spPr>
      </p:pic>
      <p:pic>
        <p:nvPicPr>
          <p:cNvPr id="152" name="Google Shape;195;p19" descr="image.png"/>
          <p:cNvPicPr/>
          <p:nvPr/>
        </p:nvPicPr>
        <p:blipFill>
          <a:blip r:embed="rId10"/>
          <a:stretch/>
        </p:blipFill>
        <p:spPr>
          <a:xfrm>
            <a:off x="8839440" y="4442400"/>
            <a:ext cx="171000" cy="190080"/>
          </a:xfrm>
          <a:prstGeom prst="rect">
            <a:avLst/>
          </a:prstGeom>
          <a:ln w="0">
            <a:noFill/>
          </a:ln>
        </p:spPr>
      </p:pic>
      <p:pic>
        <p:nvPicPr>
          <p:cNvPr id="153" name="Google Shape;196;p19" descr="image.png"/>
          <p:cNvPicPr/>
          <p:nvPr/>
        </p:nvPicPr>
        <p:blipFill>
          <a:blip r:embed="rId11"/>
          <a:stretch/>
        </p:blipFill>
        <p:spPr>
          <a:xfrm>
            <a:off x="8839440" y="5099760"/>
            <a:ext cx="171000" cy="190080"/>
          </a:xfrm>
          <a:prstGeom prst="rect">
            <a:avLst/>
          </a:prstGeom>
          <a:ln w="0">
            <a:noFill/>
          </a:ln>
        </p:spPr>
      </p:pic>
      <p:sp>
        <p:nvSpPr>
          <p:cNvPr id="154" name="Google Shape;197;p19"/>
          <p:cNvSpPr/>
          <p:nvPr/>
        </p:nvSpPr>
        <p:spPr>
          <a:xfrm>
            <a:off x="762120" y="571680"/>
            <a:ext cx="114012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80" spc="-1" strike="noStrike">
                <a:solidFill>
                  <a:srgbClr val="f8fafc"/>
                </a:solidFill>
                <a:latin typeface="Urbanist"/>
                <a:ea typeface="Urbanist"/>
              </a:rPr>
              <a:t>Ventaja Competitiva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198;p19"/>
          <p:cNvSpPr/>
          <p:nvPr/>
        </p:nvSpPr>
        <p:spPr>
          <a:xfrm>
            <a:off x="571680" y="571680"/>
            <a:ext cx="56880" cy="51408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56" name="Google Shape;191;p19" descr="image.png"/>
          <p:cNvPicPr/>
          <p:nvPr/>
        </p:nvPicPr>
        <p:blipFill>
          <a:blip r:embed="rId12"/>
          <a:stretch/>
        </p:blipFill>
        <p:spPr>
          <a:xfrm>
            <a:off x="8743680" y="3139920"/>
            <a:ext cx="142560" cy="19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58" name="Google Shape;87;p13"/>
          <p:cNvSpPr/>
          <p:nvPr/>
        </p:nvSpPr>
        <p:spPr>
          <a:xfrm>
            <a:off x="1143000" y="2352600"/>
            <a:ext cx="4667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Modelo Freemium:</a:t>
            </a: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 Funciones básicas gratuitas para toda la comunidad UdeG.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88;p13"/>
          <p:cNvSpPr/>
          <p:nvPr/>
        </p:nvSpPr>
        <p:spPr>
          <a:xfrm>
            <a:off x="1143000" y="3162240"/>
            <a:ext cx="4667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Suscripción Premium:</a:t>
            </a: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 $49 MXN/mes para análisis predictivo avanzado de Gemini 2.5.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89;p13"/>
          <p:cNvSpPr/>
          <p:nvPr/>
        </p:nvSpPr>
        <p:spPr>
          <a:xfrm>
            <a:off x="1143000" y="3971880"/>
            <a:ext cx="4667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Ads Institucionales:</a:t>
            </a: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 Espacios patrocinados por servicios universitarios y socios externos.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90;p13"/>
          <p:cNvSpPr/>
          <p:nvPr/>
        </p:nvSpPr>
        <p:spPr>
          <a:xfrm>
            <a:off x="1143000" y="4781520"/>
            <a:ext cx="4667040" cy="10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Marketplace de Puntos (Se necesita negociar con UDG):</a:t>
            </a: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 Canje de puntos por descuentos reales en servicios de que se autorizen.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Google Shape;91;p13" descr="image.png"/>
          <p:cNvPicPr/>
          <p:nvPr/>
        </p:nvPicPr>
        <p:blipFill>
          <a:blip r:embed="rId2"/>
          <a:stretch/>
        </p:blipFill>
        <p:spPr>
          <a:xfrm>
            <a:off x="762120" y="2390760"/>
            <a:ext cx="228240" cy="247320"/>
          </a:xfrm>
          <a:prstGeom prst="rect">
            <a:avLst/>
          </a:prstGeom>
          <a:ln w="0">
            <a:noFill/>
          </a:ln>
        </p:spPr>
      </p:pic>
      <p:pic>
        <p:nvPicPr>
          <p:cNvPr id="163" name="Google Shape;92;p13" descr="image.png"/>
          <p:cNvPicPr/>
          <p:nvPr/>
        </p:nvPicPr>
        <p:blipFill>
          <a:blip r:embed="rId3"/>
          <a:stretch/>
        </p:blipFill>
        <p:spPr>
          <a:xfrm>
            <a:off x="762120" y="3200400"/>
            <a:ext cx="256680" cy="247320"/>
          </a:xfrm>
          <a:prstGeom prst="rect">
            <a:avLst/>
          </a:prstGeom>
          <a:ln w="0">
            <a:noFill/>
          </a:ln>
        </p:spPr>
      </p:pic>
      <p:pic>
        <p:nvPicPr>
          <p:cNvPr id="164" name="Google Shape;93;p13" descr="image.png"/>
          <p:cNvPicPr/>
          <p:nvPr/>
        </p:nvPicPr>
        <p:blipFill>
          <a:blip r:embed="rId4"/>
          <a:stretch/>
        </p:blipFill>
        <p:spPr>
          <a:xfrm>
            <a:off x="762120" y="4010040"/>
            <a:ext cx="228240" cy="247320"/>
          </a:xfrm>
          <a:prstGeom prst="rect">
            <a:avLst/>
          </a:prstGeom>
          <a:ln w="0">
            <a:noFill/>
          </a:ln>
        </p:spPr>
      </p:pic>
      <p:pic>
        <p:nvPicPr>
          <p:cNvPr id="165" name="Google Shape;94;p13" descr="image.png"/>
          <p:cNvPicPr/>
          <p:nvPr/>
        </p:nvPicPr>
        <p:blipFill>
          <a:blip r:embed="rId5"/>
          <a:stretch/>
        </p:blipFill>
        <p:spPr>
          <a:xfrm>
            <a:off x="762120" y="4819680"/>
            <a:ext cx="256680" cy="247320"/>
          </a:xfrm>
          <a:prstGeom prst="rect">
            <a:avLst/>
          </a:prstGeom>
          <a:ln w="0">
            <a:noFill/>
          </a:ln>
        </p:spPr>
      </p:pic>
      <p:sp>
        <p:nvSpPr>
          <p:cNvPr id="166" name="Google Shape;95;p13"/>
          <p:cNvSpPr/>
          <p:nvPr/>
        </p:nvSpPr>
        <p:spPr>
          <a:xfrm>
            <a:off x="1000080" y="285840"/>
            <a:ext cx="109508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8fafc"/>
                </a:solidFill>
                <a:latin typeface="Urbanist"/>
                <a:ea typeface="Urbanist"/>
              </a:rPr>
              <a:t>Modelo de Negocio &amp; Monetización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Google Shape;96;p13"/>
          <p:cNvSpPr/>
          <p:nvPr/>
        </p:nvSpPr>
        <p:spPr>
          <a:xfrm>
            <a:off x="759600" y="366840"/>
            <a:ext cx="75960" cy="5522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68" name="Imagen 5" descr=""/>
          <p:cNvPicPr/>
          <p:nvPr/>
        </p:nvPicPr>
        <p:blipFill>
          <a:blip r:embed="rId6"/>
          <a:stretch/>
        </p:blipFill>
        <p:spPr>
          <a:xfrm>
            <a:off x="8103600" y="1123920"/>
            <a:ext cx="3685320" cy="5217120"/>
          </a:xfrm>
          <a:prstGeom prst="rect">
            <a:avLst/>
          </a:prstGeom>
          <a:ln w="0">
            <a:noFill/>
          </a:ln>
        </p:spPr>
      </p:pic>
      <p:sp>
        <p:nvSpPr>
          <p:cNvPr id="169" name="Rectángulo 6"/>
          <p:cNvSpPr/>
          <p:nvPr/>
        </p:nvSpPr>
        <p:spPr>
          <a:xfrm>
            <a:off x="8229600" y="3024360"/>
            <a:ext cx="1604520" cy="299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MX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203;p2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71" name="Google Shape;204;p20"/>
          <p:cNvSpPr/>
          <p:nvPr/>
        </p:nvSpPr>
        <p:spPr>
          <a:xfrm>
            <a:off x="571680" y="4414680"/>
            <a:ext cx="11048760" cy="10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94a3b8"/>
                </a:solidFill>
                <a:latin typeface="Urbanist"/>
                <a:ea typeface="Urbanist"/>
              </a:rPr>
              <a:t>Con un crecimiento estimado de adopción orgánica basado en la competencia inter-centros universitarios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Google Shape;205;p20"/>
          <p:cNvSpPr/>
          <p:nvPr/>
        </p:nvSpPr>
        <p:spPr>
          <a:xfrm>
            <a:off x="2269440" y="2614680"/>
            <a:ext cx="2302560" cy="11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0" spc="-1" strike="noStrike">
                <a:solidFill>
                  <a:srgbClr val="d4af37"/>
                </a:solidFill>
                <a:latin typeface="Urbanist"/>
                <a:ea typeface="Urbanist"/>
              </a:rPr>
              <a:t>339k</a:t>
            </a:r>
            <a:endParaRPr b="0" lang="en-US" sz="7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Google Shape;206;p20"/>
          <p:cNvSpPr/>
          <p:nvPr/>
        </p:nvSpPr>
        <p:spPr>
          <a:xfrm>
            <a:off x="2269440" y="3662280"/>
            <a:ext cx="2009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8fafc"/>
                </a:solidFill>
                <a:latin typeface="Urbanist"/>
                <a:ea typeface="Urbanist"/>
              </a:rPr>
              <a:t>Estudiantes Activos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Google Shape;207;p20"/>
          <p:cNvSpPr/>
          <p:nvPr/>
        </p:nvSpPr>
        <p:spPr>
          <a:xfrm>
            <a:off x="7543800" y="2614680"/>
            <a:ext cx="2514600" cy="11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0" spc="-1" strike="noStrike">
                <a:solidFill>
                  <a:srgbClr val="d4af37"/>
                </a:solidFill>
                <a:latin typeface="Urbanist"/>
                <a:ea typeface="Urbanist"/>
              </a:rPr>
              <a:t>100%</a:t>
            </a:r>
            <a:endParaRPr b="0" lang="en-US" sz="7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Google Shape;208;p20"/>
          <p:cNvSpPr/>
          <p:nvPr/>
        </p:nvSpPr>
        <p:spPr>
          <a:xfrm>
            <a:off x="7674840" y="3662280"/>
            <a:ext cx="2247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8fafc"/>
                </a:solidFill>
                <a:latin typeface="Urbanist"/>
                <a:ea typeface="Urbanist"/>
              </a:rPr>
              <a:t>Seguridad Académica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209;p20"/>
          <p:cNvSpPr/>
          <p:nvPr/>
        </p:nvSpPr>
        <p:spPr>
          <a:xfrm>
            <a:off x="762120" y="571680"/>
            <a:ext cx="114012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80" spc="-1" strike="noStrike">
                <a:solidFill>
                  <a:srgbClr val="f8fafc"/>
                </a:solidFill>
                <a:latin typeface="Urbanist"/>
                <a:ea typeface="Urbanist"/>
              </a:rPr>
              <a:t>Potencial de Usuarios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Google Shape;210;p20"/>
          <p:cNvSpPr/>
          <p:nvPr/>
        </p:nvSpPr>
        <p:spPr>
          <a:xfrm>
            <a:off x="571680" y="571680"/>
            <a:ext cx="56880" cy="51408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29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79" name="Google Shape;130;p16"/>
          <p:cNvSpPr/>
          <p:nvPr/>
        </p:nvSpPr>
        <p:spPr>
          <a:xfrm>
            <a:off x="1809720" y="4605480"/>
            <a:ext cx="8572320" cy="7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94a3b8"/>
                </a:solidFill>
                <a:latin typeface="Urbanist"/>
                <a:ea typeface="Urbanist"/>
              </a:rPr>
              <a:t>El mayor valor económico de </a:t>
            </a:r>
            <a:r>
              <a:rPr b="1" lang="en-US" sz="1650" spc="-1" strike="noStrike">
                <a:solidFill>
                  <a:srgbClr val="94a3b8"/>
                </a:solidFill>
                <a:latin typeface="Urbanist"/>
                <a:ea typeface="Urbanist"/>
              </a:rPr>
              <a:t>Hermes</a:t>
            </a:r>
            <a:r>
              <a:rPr b="0" lang="en-US" sz="1650" spc="-1" strike="noStrike">
                <a:solidFill>
                  <a:srgbClr val="94a3b8"/>
                </a:solidFill>
                <a:latin typeface="Urbanist"/>
                <a:ea typeface="Urbanist"/>
              </a:rPr>
              <a:t> no es su cobro, sino el aumento de la productividad académica y la reducción de la deserción escolar en el CUGDL.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131;p16"/>
          <p:cNvSpPr/>
          <p:nvPr/>
        </p:nvSpPr>
        <p:spPr>
          <a:xfrm rot="21558000">
            <a:off x="709920" y="2376000"/>
            <a:ext cx="3870720" cy="14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750" spc="-1" strike="noStrike">
                <a:solidFill>
                  <a:srgbClr val="d4af37"/>
                </a:solidFill>
                <a:latin typeface="Urbanist"/>
                <a:ea typeface="Urbanist"/>
              </a:rPr>
              <a:t>$4.5M</a:t>
            </a:r>
            <a:endParaRPr b="0" lang="en-US" sz="9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132;p16"/>
          <p:cNvSpPr/>
          <p:nvPr/>
        </p:nvSpPr>
        <p:spPr>
          <a:xfrm>
            <a:off x="930240" y="3728880"/>
            <a:ext cx="361908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f8fafc"/>
                </a:solidFill>
                <a:latin typeface="Urbanist Medium"/>
                <a:ea typeface="Urbanist Medium"/>
              </a:rPr>
              <a:t>Valor del Tiempo Ahorrado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133;p16"/>
          <p:cNvSpPr/>
          <p:nvPr/>
        </p:nvSpPr>
        <p:spPr>
          <a:xfrm>
            <a:off x="4886280" y="2347920"/>
            <a:ext cx="273348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750" spc="-1" strike="noStrike">
                <a:solidFill>
                  <a:srgbClr val="d4af37"/>
                </a:solidFill>
                <a:latin typeface="Urbanist"/>
                <a:ea typeface="Urbanist"/>
              </a:rPr>
              <a:t>2%</a:t>
            </a:r>
            <a:endParaRPr b="0" lang="en-US" sz="9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134;p16"/>
          <p:cNvSpPr/>
          <p:nvPr/>
        </p:nvSpPr>
        <p:spPr>
          <a:xfrm>
            <a:off x="4886280" y="3728880"/>
            <a:ext cx="273348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f8fafc"/>
                </a:solidFill>
                <a:latin typeface="Urbanist Medium"/>
                <a:ea typeface="Urbanist Medium"/>
              </a:rPr>
              <a:t>Incremento en Retención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135;p16"/>
          <p:cNvSpPr/>
          <p:nvPr/>
        </p:nvSpPr>
        <p:spPr>
          <a:xfrm>
            <a:off x="7619760" y="2347920"/>
            <a:ext cx="3810240" cy="14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750" spc="-1" strike="noStrike">
                <a:solidFill>
                  <a:srgbClr val="d4af37"/>
                </a:solidFill>
                <a:latin typeface="Urbanist"/>
                <a:ea typeface="Urbanist"/>
              </a:rPr>
              <a:t>$1.2M</a:t>
            </a:r>
            <a:endParaRPr b="0" lang="en-US" sz="9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Google Shape;136;p16"/>
          <p:cNvSpPr/>
          <p:nvPr/>
        </p:nvSpPr>
        <p:spPr>
          <a:xfrm>
            <a:off x="7956360" y="3728880"/>
            <a:ext cx="33048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f8fafc"/>
                </a:solidFill>
                <a:latin typeface="Urbanist Medium"/>
                <a:ea typeface="Urbanist Medium"/>
              </a:rPr>
              <a:t>Ahorro Op. por Retención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137;p16"/>
          <p:cNvSpPr/>
          <p:nvPr/>
        </p:nvSpPr>
        <p:spPr>
          <a:xfrm>
            <a:off x="1000080" y="762120"/>
            <a:ext cx="109508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8fafc"/>
                </a:solidFill>
                <a:latin typeface="Urbanist"/>
                <a:ea typeface="Urbanist"/>
              </a:rPr>
              <a:t>Valor del Impacto y Retorno Social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138;p16"/>
          <p:cNvSpPr/>
          <p:nvPr/>
        </p:nvSpPr>
        <p:spPr>
          <a:xfrm>
            <a:off x="762120" y="762120"/>
            <a:ext cx="75960" cy="5522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10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89" name="Google Shape;111;p15" descr="image.png"/>
          <p:cNvPicPr/>
          <p:nvPr/>
        </p:nvPicPr>
        <p:blipFill>
          <a:blip r:embed="rId2"/>
          <a:stretch/>
        </p:blipFill>
        <p:spPr>
          <a:xfrm>
            <a:off x="762120" y="2347920"/>
            <a:ext cx="5047920" cy="3095280"/>
          </a:xfrm>
          <a:prstGeom prst="rect">
            <a:avLst/>
          </a:prstGeom>
          <a:ln w="0">
            <a:noFill/>
          </a:ln>
        </p:spPr>
      </p:pic>
      <p:pic>
        <p:nvPicPr>
          <p:cNvPr id="190" name="Google Shape;112;p15" descr="image.png"/>
          <p:cNvPicPr/>
          <p:nvPr/>
        </p:nvPicPr>
        <p:blipFill>
          <a:blip r:embed="rId3"/>
          <a:stretch/>
        </p:blipFill>
        <p:spPr>
          <a:xfrm>
            <a:off x="6381720" y="2205000"/>
            <a:ext cx="5047920" cy="3381120"/>
          </a:xfrm>
          <a:prstGeom prst="rect">
            <a:avLst/>
          </a:prstGeom>
          <a:ln w="0">
            <a:noFill/>
          </a:ln>
        </p:spPr>
      </p:pic>
      <p:sp>
        <p:nvSpPr>
          <p:cNvPr id="191" name="Google Shape;113;p15"/>
          <p:cNvSpPr/>
          <p:nvPr/>
        </p:nvSpPr>
        <p:spPr>
          <a:xfrm>
            <a:off x="1152360" y="2738520"/>
            <a:ext cx="448020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924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10" spc="-1" strike="noStrike">
                <a:solidFill>
                  <a:srgbClr val="d4af37"/>
                </a:solidFill>
                <a:latin typeface="Urbanist"/>
                <a:ea typeface="Urbanist"/>
              </a:rPr>
              <a:t>Inversión Evitada</a:t>
            </a:r>
            <a:endParaRPr b="0" lang="en-US" sz="1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114;p15"/>
          <p:cNvSpPr/>
          <p:nvPr/>
        </p:nvSpPr>
        <p:spPr>
          <a:xfrm>
            <a:off x="1152360" y="3147840"/>
            <a:ext cx="4266720" cy="10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El costo de desarrollo externo (outsourcing) para una app con IA, LangGraph y Docker oscila entre: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Google Shape;115;p15"/>
          <p:cNvSpPr/>
          <p:nvPr/>
        </p:nvSpPr>
        <p:spPr>
          <a:xfrm>
            <a:off x="1143000" y="4023720"/>
            <a:ext cx="4266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8fafc"/>
                </a:solidFill>
                <a:latin typeface="Urbanist"/>
                <a:ea typeface="Urbanist"/>
              </a:rPr>
              <a:t>$350k - $600k MXN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116;p15"/>
          <p:cNvSpPr/>
          <p:nvPr/>
        </p:nvSpPr>
        <p:spPr>
          <a:xfrm>
            <a:off x="1152360" y="4672080"/>
            <a:ext cx="426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Urbanist"/>
                <a:ea typeface="Urbanist"/>
              </a:rPr>
              <a:t>Valor generado por el equipo interno de ingeniería.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Google Shape;117;p15"/>
          <p:cNvSpPr/>
          <p:nvPr/>
        </p:nvSpPr>
        <p:spPr>
          <a:xfrm>
            <a:off x="6772320" y="2595600"/>
            <a:ext cx="448020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10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10" spc="-1" strike="noStrike">
                <a:solidFill>
                  <a:srgbClr val="d4af37"/>
                </a:solidFill>
                <a:latin typeface="Urbanist"/>
                <a:ea typeface="Urbanist"/>
              </a:rPr>
              <a:t>Valuación Pre-Seed</a:t>
            </a:r>
            <a:endParaRPr b="0" lang="en-US" sz="1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Google Shape;118;p15"/>
          <p:cNvSpPr/>
          <p:nvPr/>
        </p:nvSpPr>
        <p:spPr>
          <a:xfrm>
            <a:off x="6772320" y="3005280"/>
            <a:ext cx="4266720" cy="10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Como software funcional con integración nativa y base de datos institucional, la valuación de Hermes es: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119;p15"/>
          <p:cNvSpPr/>
          <p:nvPr/>
        </p:nvSpPr>
        <p:spPr>
          <a:xfrm>
            <a:off x="6772320" y="4052880"/>
            <a:ext cx="4266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8fafc"/>
                </a:solidFill>
                <a:latin typeface="Urbanist"/>
                <a:ea typeface="Urbanist"/>
              </a:rPr>
              <a:t>$1.5 Millones MXN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Google Shape;120;p15"/>
          <p:cNvSpPr/>
          <p:nvPr/>
        </p:nvSpPr>
        <p:spPr>
          <a:xfrm>
            <a:off x="6772320" y="4815000"/>
            <a:ext cx="426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Urbanist"/>
                <a:ea typeface="Urbanist"/>
              </a:rPr>
              <a:t>Considerando el potencial de escalabilidad a la Red Global.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Google Shape;121;p15" descr="image.png"/>
          <p:cNvPicPr/>
          <p:nvPr/>
        </p:nvPicPr>
        <p:blipFill>
          <a:blip r:embed="rId4"/>
          <a:stretch/>
        </p:blipFill>
        <p:spPr>
          <a:xfrm>
            <a:off x="1152360" y="2757600"/>
            <a:ext cx="218880" cy="177840"/>
          </a:xfrm>
          <a:prstGeom prst="rect">
            <a:avLst/>
          </a:prstGeom>
          <a:ln w="0">
            <a:noFill/>
          </a:ln>
        </p:spPr>
      </p:pic>
      <p:pic>
        <p:nvPicPr>
          <p:cNvPr id="200" name="Google Shape;122;p15" descr="image.png"/>
          <p:cNvPicPr/>
          <p:nvPr/>
        </p:nvPicPr>
        <p:blipFill>
          <a:blip r:embed="rId5"/>
          <a:stretch/>
        </p:blipFill>
        <p:spPr>
          <a:xfrm>
            <a:off x="6772320" y="2614680"/>
            <a:ext cx="180720" cy="177840"/>
          </a:xfrm>
          <a:prstGeom prst="rect">
            <a:avLst/>
          </a:prstGeom>
          <a:ln w="0">
            <a:noFill/>
          </a:ln>
        </p:spPr>
      </p:pic>
      <p:sp>
        <p:nvSpPr>
          <p:cNvPr id="201" name="Google Shape;123;p15"/>
          <p:cNvSpPr/>
          <p:nvPr/>
        </p:nvSpPr>
        <p:spPr>
          <a:xfrm>
            <a:off x="1000080" y="762120"/>
            <a:ext cx="109508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8fafc"/>
                </a:solidFill>
                <a:latin typeface="Urbanist"/>
                <a:ea typeface="Urbanist"/>
              </a:rPr>
              <a:t>Valuación del Activo Tecnológico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Google Shape;124;p15"/>
          <p:cNvSpPr/>
          <p:nvPr/>
        </p:nvSpPr>
        <p:spPr>
          <a:xfrm>
            <a:off x="762120" y="762120"/>
            <a:ext cx="75960" cy="5522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101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04" name="Google Shape;102;p14" descr="image.png"/>
          <p:cNvPicPr/>
          <p:nvPr/>
        </p:nvPicPr>
        <p:blipFill>
          <a:blip r:embed="rId2"/>
          <a:stretch/>
        </p:blipFill>
        <p:spPr>
          <a:xfrm>
            <a:off x="762120" y="1695600"/>
            <a:ext cx="10667520" cy="4400280"/>
          </a:xfrm>
          <a:prstGeom prst="rect">
            <a:avLst/>
          </a:prstGeom>
          <a:ln w="0">
            <a:noFill/>
          </a:ln>
        </p:spPr>
      </p:pic>
      <p:sp>
        <p:nvSpPr>
          <p:cNvPr id="205" name="Google Shape;103;p14"/>
          <p:cNvSpPr/>
          <p:nvPr/>
        </p:nvSpPr>
        <p:spPr>
          <a:xfrm>
            <a:off x="762120" y="4871880"/>
            <a:ext cx="106675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*Estimación basada en una población de 5,000 estudiantes y una tasa de conversión conservadora.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Google Shape;104;p14"/>
          <p:cNvSpPr/>
          <p:nvPr/>
        </p:nvSpPr>
        <p:spPr>
          <a:xfrm>
            <a:off x="1000080" y="762120"/>
            <a:ext cx="109508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8fafc"/>
                </a:solidFill>
                <a:latin typeface="Urbanist"/>
                <a:ea typeface="Urbanist"/>
              </a:rPr>
              <a:t>Proyección de Ingresos (Sandbox CUGDL)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105;p14"/>
          <p:cNvSpPr/>
          <p:nvPr/>
        </p:nvSpPr>
        <p:spPr>
          <a:xfrm>
            <a:off x="762120" y="762120"/>
            <a:ext cx="75960" cy="5522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15;p2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09" name="Google Shape;216;p21"/>
          <p:cNvSpPr/>
          <p:nvPr/>
        </p:nvSpPr>
        <p:spPr>
          <a:xfrm>
            <a:off x="1691640" y="4257720"/>
            <a:ext cx="190080" cy="19008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0" name="Google Shape;217;p21"/>
          <p:cNvSpPr/>
          <p:nvPr/>
        </p:nvSpPr>
        <p:spPr>
          <a:xfrm>
            <a:off x="4564440" y="4257720"/>
            <a:ext cx="190080" cy="19008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1" name="Google Shape;218;p21"/>
          <p:cNvSpPr/>
          <p:nvPr/>
        </p:nvSpPr>
        <p:spPr>
          <a:xfrm>
            <a:off x="7436880" y="4257720"/>
            <a:ext cx="190080" cy="19008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2" name="Google Shape;219;p21"/>
          <p:cNvSpPr/>
          <p:nvPr/>
        </p:nvSpPr>
        <p:spPr>
          <a:xfrm>
            <a:off x="10309680" y="4257720"/>
            <a:ext cx="190080" cy="19008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3" name="Google Shape;220;p21"/>
          <p:cNvSpPr/>
          <p:nvPr/>
        </p:nvSpPr>
        <p:spPr>
          <a:xfrm>
            <a:off x="571680" y="4352760"/>
            <a:ext cx="11048760" cy="378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4" name="Google Shape;221;p21"/>
          <p:cNvSpPr/>
          <p:nvPr/>
        </p:nvSpPr>
        <p:spPr>
          <a:xfrm>
            <a:off x="510840" y="4829040"/>
            <a:ext cx="25516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10" spc="-1" strike="noStrike">
                <a:solidFill>
                  <a:srgbClr val="f8fafc"/>
                </a:solidFill>
                <a:latin typeface="Urbanist"/>
                <a:ea typeface="Urbanist"/>
              </a:rPr>
              <a:t>Fase 1</a:t>
            </a:r>
            <a:endParaRPr b="0" lang="en-US" sz="14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Google Shape;222;p21"/>
          <p:cNvSpPr/>
          <p:nvPr/>
        </p:nvSpPr>
        <p:spPr>
          <a:xfrm>
            <a:off x="571680" y="5238720"/>
            <a:ext cx="2430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Integración nativa con SIIAU para agendar clases automáticamente.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Google Shape;223;p21"/>
          <p:cNvSpPr/>
          <p:nvPr/>
        </p:nvSpPr>
        <p:spPr>
          <a:xfrm>
            <a:off x="3383280" y="2476440"/>
            <a:ext cx="25516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10" spc="-1" strike="noStrike">
                <a:solidFill>
                  <a:srgbClr val="f8fafc"/>
                </a:solidFill>
                <a:latin typeface="Urbanist"/>
                <a:ea typeface="Urbanist"/>
              </a:rPr>
              <a:t>Fase 2</a:t>
            </a:r>
            <a:endParaRPr b="0" lang="en-US" sz="14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Google Shape;224;p21"/>
          <p:cNvSpPr/>
          <p:nvPr/>
        </p:nvSpPr>
        <p:spPr>
          <a:xfrm>
            <a:off x="3444120" y="2886120"/>
            <a:ext cx="2430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App Móvil nativa (iOS/Android) con notificaciones push.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Google Shape;225;p21"/>
          <p:cNvSpPr/>
          <p:nvPr/>
        </p:nvSpPr>
        <p:spPr>
          <a:xfrm>
            <a:off x="6256080" y="4829040"/>
            <a:ext cx="25516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10" spc="-1" strike="noStrike">
                <a:solidFill>
                  <a:srgbClr val="f8fafc"/>
                </a:solidFill>
                <a:latin typeface="Urbanist"/>
                <a:ea typeface="Urbanist"/>
              </a:rPr>
              <a:t>Fase 3</a:t>
            </a:r>
            <a:endParaRPr b="0" lang="en-US" sz="14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226;p21"/>
          <p:cNvSpPr/>
          <p:nvPr/>
        </p:nvSpPr>
        <p:spPr>
          <a:xfrm>
            <a:off x="6316920" y="5238720"/>
            <a:ext cx="2430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Marketplace de puntos por descuentos en cafeterías UdeG.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Google Shape;227;p21"/>
          <p:cNvSpPr/>
          <p:nvPr/>
        </p:nvSpPr>
        <p:spPr>
          <a:xfrm>
            <a:off x="9128880" y="2476440"/>
            <a:ext cx="255168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10" spc="-1" strike="noStrike">
                <a:solidFill>
                  <a:srgbClr val="f8fafc"/>
                </a:solidFill>
                <a:latin typeface="Urbanist"/>
                <a:ea typeface="Urbanist"/>
              </a:rPr>
              <a:t>Fase 4</a:t>
            </a:r>
            <a:endParaRPr b="0" lang="en-US" sz="14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Google Shape;228;p21"/>
          <p:cNvSpPr/>
          <p:nvPr/>
        </p:nvSpPr>
        <p:spPr>
          <a:xfrm>
            <a:off x="9189720" y="2886120"/>
            <a:ext cx="2430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IA predictiva de exámenes basada en calendarios históricos.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Google Shape;229;p21"/>
          <p:cNvSpPr/>
          <p:nvPr/>
        </p:nvSpPr>
        <p:spPr>
          <a:xfrm>
            <a:off x="762120" y="571680"/>
            <a:ext cx="114012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80" spc="-1" strike="noStrike">
                <a:solidFill>
                  <a:srgbClr val="f8fafc"/>
                </a:solidFill>
                <a:latin typeface="Urbanist"/>
                <a:ea typeface="Urbanist"/>
              </a:rPr>
              <a:t>Hoja de Ruta (Roadmap)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Google Shape;230;p21"/>
          <p:cNvSpPr/>
          <p:nvPr/>
        </p:nvSpPr>
        <p:spPr>
          <a:xfrm>
            <a:off x="571680" y="571680"/>
            <a:ext cx="56880" cy="51408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35;p2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25" name="Google Shape;236;p22"/>
          <p:cNvSpPr/>
          <p:nvPr/>
        </p:nvSpPr>
        <p:spPr>
          <a:xfrm>
            <a:off x="295200" y="1718280"/>
            <a:ext cx="11601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f8fafc"/>
                </a:solidFill>
                <a:latin typeface="Urbanist"/>
                <a:ea typeface="Urbanist"/>
              </a:rPr>
              <a:t>¿Preguntas?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Google Shape;237;p22"/>
          <p:cNvSpPr/>
          <p:nvPr/>
        </p:nvSpPr>
        <p:spPr>
          <a:xfrm>
            <a:off x="571680" y="2823120"/>
            <a:ext cx="110487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cbd5e1"/>
                </a:solidFill>
                <a:latin typeface="Urbanist"/>
                <a:ea typeface="Urbanist"/>
              </a:rPr>
              <a:t>¡Gracias por su atención!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Google Shape;238;p22"/>
          <p:cNvSpPr/>
          <p:nvPr/>
        </p:nvSpPr>
        <p:spPr>
          <a:xfrm>
            <a:off x="571680" y="4225320"/>
            <a:ext cx="110487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Equipo Lobo, Alfa, Dinamita, Super Buena Onda, Ingeniería de Software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Google Shape;239;p22"/>
          <p:cNvSpPr/>
          <p:nvPr/>
        </p:nvSpPr>
        <p:spPr>
          <a:xfrm>
            <a:off x="571680" y="4682520"/>
            <a:ext cx="110487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94a3b8"/>
                </a:solidFill>
                <a:latin typeface="Urbanist"/>
                <a:ea typeface="Urbanist"/>
              </a:rPr>
              <a:t>Universidad de Guadalajara - 2026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LibreOffice/24.2.7.2$Linux_X86_64 LibreOffice_project/420$Build-2</Application>
  <AppVersion>15.0000</AppVersion>
  <Words>594</Words>
  <Paragraphs>89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ALVARO</dc:creator>
  <dc:description/>
  <dc:language>en-US</dc:language>
  <cp:lastModifiedBy/>
  <dcterms:modified xsi:type="dcterms:W3CDTF">2026-05-09T14:25:55Z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Panorámica</vt:lpwstr>
  </property>
  <property fmtid="{D5CDD505-2E9C-101B-9397-08002B2CF9AE}" pid="4" name="Slides">
    <vt:i4>14</vt:i4>
  </property>
</Properties>
</file>