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Prata" pitchFamily="2" charset="77"/>
      <p:regular r:id="rId15"/>
    </p:embeddedFont>
    <p:embeddedFont>
      <p:font typeface="Raleway" pitchFamily="2" charset="77"/>
      <p:regular r:id="rId16"/>
      <p:bold r:id="rId17"/>
      <p:italic r:id="rId18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871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7075"/>
            <a:ext cx="58887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Rendimiento Académico y Gaming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026765"/>
            <a:ext cx="2888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Predicción con Machine Learning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08720" y="1620292"/>
            <a:ext cx="186332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¿En qué medida los hábitos de vida de un estudiante en particular el tiempo dedicado al videojuego determinan su calificación académica?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620292"/>
            <a:ext cx="19050" cy="1360884"/>
          </a:xfrm>
          <a:prstGeom prst="rect">
            <a:avLst/>
          </a:prstGeom>
          <a:solidFill>
            <a:srgbClr val="EEE27D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687" y="1620292"/>
            <a:ext cx="3308077" cy="28365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1403" y="1588368"/>
            <a:ext cx="20759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Josue Solano Perez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| 224164458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2B1841-1586-27B7-F56E-C8BAC2EB2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847282"/>
            <a:ext cx="28194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42950"/>
            <a:ext cx="65532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742950"/>
            <a:ext cx="6553200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19A1EB-F1C8-7F33-99E8-FB0BD6603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370" y="4569822"/>
            <a:ext cx="1326630" cy="5736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277044"/>
            <a:ext cx="498797" cy="149796"/>
          </a:xfrm>
          <a:prstGeom prst="roundRect">
            <a:avLst>
              <a:gd name="adj" fmla="val 7275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1493193" y="304279"/>
            <a:ext cx="389855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 — DATOS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450056"/>
            <a:ext cx="227044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 Dataset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438721" y="821010"/>
            <a:ext cx="626655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Dataset: Gaming vs Academic Performance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438721" y="1005557"/>
            <a:ext cx="626655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i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Kaggle, Asper 2024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38721" y="1235497"/>
            <a:ext cx="2040359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7,995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891308" y="1624161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Registros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51783" y="1235497"/>
            <a:ext cx="2040359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13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4004370" y="1624161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Variables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4845" y="1235497"/>
            <a:ext cx="2040359" cy="29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0–118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6117431" y="1624161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Escala grades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38721" y="1853282"/>
            <a:ext cx="1139354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Variables del modelo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38721" y="2134716"/>
            <a:ext cx="302255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Entrada (12)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38721" y="2306166"/>
            <a:ext cx="3022550" cy="816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gaming_hours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study_hours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sleep_hours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attendance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reaction_time_ms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addiction_score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687491" y="2134716"/>
            <a:ext cx="302255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 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87491" y="2306166"/>
            <a:ext cx="3022550" cy="816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stress_level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gaming_genre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gender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social_activity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device_usage</a:t>
            </a:r>
            <a:endParaRPr lang="en-US" sz="70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</a:t>
            </a:r>
            <a:endParaRPr lang="en-US" sz="7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3208288"/>
            <a:ext cx="6266557" cy="165816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22103" y="3768947"/>
            <a:ext cx="947249" cy="16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Carga CSV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922103" y="3986796"/>
            <a:ext cx="947249" cy="22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Importar dataset bruto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007582" y="3753965"/>
            <a:ext cx="947249" cy="16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Imputación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007582" y="3971815"/>
            <a:ext cx="947249" cy="333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Mediana para num, moda para cat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093060" y="3768947"/>
            <a:ext cx="947249" cy="16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LabelEncoder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93060" y="3986796"/>
            <a:ext cx="947249" cy="22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Codificar variables categóricas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178538" y="3695640"/>
            <a:ext cx="947250" cy="339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178538" y="4083095"/>
            <a:ext cx="947250" cy="22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Escalar solo sobre train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270046" y="3768947"/>
            <a:ext cx="947250" cy="16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Split 80/20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70046" y="3986796"/>
            <a:ext cx="947250" cy="333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Reservar 5 registros para validación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727033E-31CB-9551-A057-25FBC918C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370" y="4569822"/>
            <a:ext cx="1326630" cy="573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506834"/>
            <a:ext cx="1113309" cy="255240"/>
          </a:xfrm>
          <a:prstGeom prst="roundRect">
            <a:avLst>
              <a:gd name="adj" fmla="val 6457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563017" y="547985"/>
            <a:ext cx="94855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— INFORMACIÓN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815280"/>
            <a:ext cx="505264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Medidas de Tendencia Central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80640" y="1593577"/>
            <a:ext cx="4775597" cy="1955527"/>
          </a:xfrm>
          <a:prstGeom prst="roundRect">
            <a:avLst>
              <a:gd name="adj" fmla="val 105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622697" y="1682874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16596" y="1682874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08114" y="1682874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9632" y="1682874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Desv. Est.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2697" y="2073027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gaming_hours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16596" y="2073027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4.09 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08114" y="2073027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4.13 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99632" y="2073027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2697" y="2463180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study_hours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16596" y="2463180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5.46 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08114" y="2463180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5.46 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99632" y="2463180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2697" y="2853333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sleep_hours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16596" y="2853333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6.49 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08114" y="2853333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6.50 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99632" y="2853333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2697" y="3243486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16596" y="3243486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66.18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08114" y="3243486"/>
            <a:ext cx="91216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67.09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99632" y="3243486"/>
            <a:ext cx="91454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22.42</a:t>
            </a:r>
            <a:endParaRPr lang="en-US" sz="10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012" y="1813694"/>
            <a:ext cx="3072036" cy="151529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80640" y="3848398"/>
            <a:ext cx="8182719" cy="788268"/>
          </a:xfrm>
          <a:prstGeom prst="roundRect">
            <a:avLst>
              <a:gd name="adj" fmla="val 261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" y="4052218"/>
            <a:ext cx="171599" cy="13729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26827" y="4015680"/>
            <a:ext cx="75992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distribución de calificaciones es aproximadamente normal, centrada en </a:t>
            </a: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 puntos</a:t>
            </a: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sobre 118 posibles — con baja asimetría, lo que valida el uso de métricas basadas en error cuadrático.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B77033-FB36-C886-0B46-36E722E39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370" y="4729396"/>
            <a:ext cx="1326630" cy="4141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503039"/>
            <a:ext cx="1161455" cy="218033"/>
          </a:xfrm>
          <a:prstGeom prst="roundRect">
            <a:avLst>
              <a:gd name="adj" fmla="val 6705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499467" y="539576"/>
            <a:ext cx="1015305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— HALLAZGO CLAVE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7578" y="762893"/>
            <a:ext cx="8128843" cy="525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Más horas de juego = Menor calificación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338658" y="1445270"/>
            <a:ext cx="2884140" cy="3195191"/>
          </a:xfrm>
          <a:prstGeom prst="roundRect">
            <a:avLst>
              <a:gd name="adj" fmla="val 634"/>
            </a:avLst>
          </a:prstGeom>
          <a:solidFill>
            <a:srgbClr val="EEE27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460474" y="1549896"/>
            <a:ext cx="188111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Correlaciones destacadas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0474" y="1844873"/>
            <a:ext cx="264050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gaming_hours → grades</a:t>
            </a:r>
            <a:endParaRPr lang="en-US" sz="9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 = −0.55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0474" y="2301478"/>
            <a:ext cx="2640509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Estudiantes en el cuartil Q4 de gaming obtienen calificaciones notablemente menores que los de Q1.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037" y="1562993"/>
            <a:ext cx="5285259" cy="25759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78200" y="1794371"/>
            <a:ext cx="132531" cy="90487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0.73</a:t>
            </a:r>
            <a:endParaRPr lang="en-US" sz="400" dirty="0"/>
          </a:p>
        </p:txBody>
      </p:sp>
      <p:sp>
        <p:nvSpPr>
          <p:cNvPr id="11" name="Text 8"/>
          <p:cNvSpPr/>
          <p:nvPr/>
        </p:nvSpPr>
        <p:spPr>
          <a:xfrm>
            <a:off x="7575493" y="2171402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0.52</a:t>
            </a:r>
            <a:endParaRPr lang="en-US" sz="400" dirty="0"/>
          </a:p>
        </p:txBody>
      </p:sp>
      <p:sp>
        <p:nvSpPr>
          <p:cNvPr id="12" name="Text 9"/>
          <p:cNvSpPr/>
          <p:nvPr/>
        </p:nvSpPr>
        <p:spPr>
          <a:xfrm>
            <a:off x="6673246" y="2548434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0.25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4182708" y="2925465"/>
            <a:ext cx="149423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-0.55</a:t>
            </a:r>
            <a:endParaRPr lang="en-US" sz="400" dirty="0"/>
          </a:p>
        </p:txBody>
      </p:sp>
      <p:sp>
        <p:nvSpPr>
          <p:cNvPr id="14" name="Text 11"/>
          <p:cNvSpPr/>
          <p:nvPr/>
        </p:nvSpPr>
        <p:spPr>
          <a:xfrm>
            <a:off x="4385522" y="3302496"/>
            <a:ext cx="149423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-0.49</a:t>
            </a:r>
            <a:endParaRPr lang="en-US" sz="400" dirty="0"/>
          </a:p>
        </p:txBody>
      </p:sp>
      <p:sp>
        <p:nvSpPr>
          <p:cNvPr id="15" name="Text 12"/>
          <p:cNvSpPr/>
          <p:nvPr/>
        </p:nvSpPr>
        <p:spPr>
          <a:xfrm>
            <a:off x="4450845" y="3679527"/>
            <a:ext cx="149423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-0.47</a:t>
            </a:r>
            <a:endParaRPr lang="en-US" sz="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D77D99-A9C8-AC3D-0D95-E7503A95F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370" y="4729396"/>
            <a:ext cx="1326630" cy="414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43149"/>
            <a:ext cx="8151763" cy="2857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30D0D-075B-3702-2479-8EFAA7D10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370" y="4729396"/>
            <a:ext cx="1326630" cy="414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09711"/>
            <a:ext cx="880095" cy="187672"/>
          </a:xfrm>
          <a:prstGeom prst="roundRect">
            <a:avLst>
              <a:gd name="adj" fmla="val 6940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892448" y="342230"/>
            <a:ext cx="749871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— INFORMACIÓN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30572"/>
            <a:ext cx="304093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Mapa de Correlaciones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087859"/>
            <a:ext cx="4775299" cy="36523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107744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Lectura del mapa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1330003"/>
            <a:ext cx="2449116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variables de </a:t>
            </a:r>
            <a:r>
              <a:rPr lang="en-US" sz="850" b="1" dirty="0">
                <a:solidFill>
                  <a:srgbClr val="2ECC7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estudio, sueño y tiempo de reacción</a:t>
            </a: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correlacionan positivamente con grades.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72163" y="1864668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variables de </a:t>
            </a:r>
            <a:r>
              <a:rPr lang="en-US" sz="850" b="1" dirty="0">
                <a:solidFill>
                  <a:srgbClr val="E74C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gaming, adicción y uso de dispositivos</a:t>
            </a: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correlacionan negativamente.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872163" y="2264718"/>
            <a:ext cx="2449116" cy="545753"/>
          </a:xfrm>
          <a:prstGeom prst="roundRect">
            <a:avLst>
              <a:gd name="adj" fmla="val 2983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58" y="2419648"/>
            <a:ext cx="135657" cy="108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24811" y="2374850"/>
            <a:ext cx="198797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columna </a:t>
            </a:r>
            <a:r>
              <a:rPr lang="en-US" sz="8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grades</a:t>
            </a: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 el eje interpretativo central del análisis.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8E6CC3-7280-91AD-D1FD-3BE3B00D6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370" y="4729396"/>
            <a:ext cx="1326630" cy="414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78544"/>
            <a:ext cx="1158106" cy="233660"/>
          </a:xfrm>
          <a:prstGeom prst="roundRect">
            <a:avLst>
              <a:gd name="adj" fmla="val 6598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526628" y="417016"/>
            <a:ext cx="1004069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 — CONOCIMIENTO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58713"/>
            <a:ext cx="4037186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Los Modelos Aprendieron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49610" y="1365721"/>
            <a:ext cx="4393555" cy="1753865"/>
          </a:xfrm>
          <a:prstGeom prst="roundRect">
            <a:avLst>
              <a:gd name="adj" fmla="val 109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583257" y="1445047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46684" y="1445047"/>
            <a:ext cx="11994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Regresión Lineal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07730" y="1445047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 Neuronal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3257" y="1794867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Huber Loss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46684" y="1794867"/>
            <a:ext cx="11994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07730" y="1794867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~5.10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3257" y="2144688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46684" y="2144688"/>
            <a:ext cx="11994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48.66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7730" y="2144688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~49.00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3257" y="2494508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46684" y="2494508"/>
            <a:ext cx="11994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7730" y="2494508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3257" y="2844329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46684" y="2844329"/>
            <a:ext cx="11994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0.905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07730" y="2844329"/>
            <a:ext cx="12017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~0.890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9610" y="3250555"/>
            <a:ext cx="4393555" cy="709315"/>
          </a:xfrm>
          <a:prstGeom prst="roundRect">
            <a:avLst>
              <a:gd name="adj" fmla="val 2717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8" y="3479974"/>
            <a:ext cx="160586" cy="12843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7073" y="3399011"/>
            <a:ext cx="384765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Ambos modelos con </a:t>
            </a: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R² &gt; 0.89</a:t>
            </a: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error promedio de solo </a:t>
            </a: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~5.5 puntos</a:t>
            </a: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 escala 0–118.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61359" y="1351136"/>
            <a:ext cx="213821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Arquitectura: Red Neuronal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161359" y="1682800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359" y="1886843"/>
            <a:ext cx="3537719" cy="142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61359" y="197963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Input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161359" y="2296716"/>
            <a:ext cx="353771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variables normalizadas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161359" y="270532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359" y="2896493"/>
            <a:ext cx="3537719" cy="142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61359" y="300216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Dense (128)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5161359" y="3319239"/>
            <a:ext cx="353771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Activación ReLU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161359" y="372784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359" y="3906217"/>
            <a:ext cx="3537719" cy="142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161359" y="402468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Output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5161359" y="4341763"/>
            <a:ext cx="353771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Dense(1) — AdamW + Huber Loss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E19087A-8AE8-910D-EF55-7580A4883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370" y="4729396"/>
            <a:ext cx="1326630" cy="414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6393" y="359346"/>
            <a:ext cx="1128192" cy="218033"/>
          </a:xfrm>
          <a:prstGeom prst="roundRect">
            <a:avLst>
              <a:gd name="adj" fmla="val 6705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Text 1"/>
          <p:cNvSpPr/>
          <p:nvPr/>
        </p:nvSpPr>
        <p:spPr>
          <a:xfrm>
            <a:off x="499467" y="395883"/>
            <a:ext cx="982042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 — INSIGHT CRÍTICO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6393" y="619199"/>
            <a:ext cx="4862215" cy="157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 Regresión Lineal iguala a la Red Neuronal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426393" y="2446511"/>
            <a:ext cx="2282503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relación entre hábitos de vida y rendimiento académico es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esencialmente lineal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 No se requieren modelos complejos — la relación es directa y proporcional.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26393" y="3470225"/>
            <a:ext cx="2282503" cy="1196132"/>
          </a:xfrm>
          <a:prstGeom prst="roundRect">
            <a:avLst>
              <a:gd name="adj" fmla="val 1528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08" y="3649191"/>
            <a:ext cx="152251" cy="1218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275" y="3605287"/>
            <a:ext cx="1764804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Esto también la hace </a:t>
            </a:r>
            <a:r>
              <a:rPr lang="en-US" sz="9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interpretable, explicable y reproducible</a:t>
            </a: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 cualquier entorno académico o institucional.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867" y="2470026"/>
            <a:ext cx="2282503" cy="12503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51132" y="2755568"/>
            <a:ext cx="121890" cy="85279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350"/>
              </a:lnSpc>
              <a:buNone/>
            </a:pPr>
            <a:r>
              <a:rPr lang="en-US" sz="3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5.51</a:t>
            </a:r>
            <a:endParaRPr lang="en-US" sz="350" dirty="0"/>
          </a:p>
        </p:txBody>
      </p:sp>
      <p:sp>
        <p:nvSpPr>
          <p:cNvPr id="12" name="Text 7"/>
          <p:cNvSpPr/>
          <p:nvPr/>
        </p:nvSpPr>
        <p:spPr>
          <a:xfrm>
            <a:off x="4960572" y="3254575"/>
            <a:ext cx="121890" cy="85279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marL="0" indent="0" algn="l">
              <a:lnSpc>
                <a:spcPts val="350"/>
              </a:lnSpc>
              <a:buNone/>
            </a:pPr>
            <a:r>
              <a:rPr lang="en-US" sz="3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5.56</a:t>
            </a:r>
            <a:endParaRPr lang="en-US" sz="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309116"/>
            <a:ext cx="729481" cy="168325"/>
          </a:xfrm>
          <a:prstGeom prst="roundRect">
            <a:avLst>
              <a:gd name="adj" fmla="val 7106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1192783" y="338956"/>
            <a:ext cx="609972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 — SABIDURÍA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505420"/>
            <a:ext cx="2908995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 Que Debemos Hacer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33029" y="921990"/>
            <a:ext cx="2245891" cy="1415951"/>
          </a:xfrm>
          <a:prstGeom prst="roundRect">
            <a:avLst>
              <a:gd name="adj" fmla="val 484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41" y="921990"/>
            <a:ext cx="57150" cy="14159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819" y="1035918"/>
            <a:ext cx="1975172" cy="46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 gaming moderado no destruye calificaciones — el exceso, sí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89819" y="1544985"/>
            <a:ext cx="1975172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Correlación −0.55, no −1.0. La relación es significativa pero no determinante. El problema surge en el uso excesivo y compulsivo, no en el gaming como actividad.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448943" y="921990"/>
            <a:ext cx="2245965" cy="1415951"/>
          </a:xfrm>
          <a:prstGeom prst="roundRect">
            <a:avLst>
              <a:gd name="adj" fmla="val 484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655" y="921990"/>
            <a:ext cx="57150" cy="14159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05733" y="1035918"/>
            <a:ext cx="1975247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 estudio es el predictor más poderoso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05733" y="1389311"/>
            <a:ext cx="197524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study_hours</a:t>
            </a: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tiene correlación </a:t>
            </a:r>
            <a:r>
              <a:rPr lang="en-US" sz="750" b="1" dirty="0">
                <a:solidFill>
                  <a:srgbClr val="2ECC7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+0.73</a:t>
            </a: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mayor que cualquier otra variable analizada. Intervenir en hábitos de estudio tiene el mayor retorno predictivo.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764932" y="921990"/>
            <a:ext cx="2245965" cy="1415951"/>
          </a:xfrm>
          <a:prstGeom prst="roundRect">
            <a:avLst>
              <a:gd name="adj" fmla="val 484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644" y="921990"/>
            <a:ext cx="57150" cy="14159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21722" y="1035918"/>
            <a:ext cx="1975247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 modelo simple y explicable es suficiente — y preferible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921722" y="1389311"/>
            <a:ext cx="197524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Regresión lineal: reproducible, interpretable, igual de precisa que una red neuronal. La parsimonia es una virtud científica y práctica.</a:t>
            </a:r>
            <a:endParaRPr lang="en-US" sz="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29" y="2416746"/>
            <a:ext cx="6877869" cy="24175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CE01E8-D678-8D0C-004B-B7305EB04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897" y="4789805"/>
            <a:ext cx="1133102" cy="3536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496267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Conclusiones y Recomendaciones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41871" y="156641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Conclusiones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98" y="1896480"/>
            <a:ext cx="189384" cy="1893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2115" y="1890192"/>
            <a:ext cx="1851347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Predecir rendimiento académico con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 ≈ 5.5 puntos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 posible usando únicamente hábitos de vida.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98" y="2885145"/>
            <a:ext cx="189384" cy="1893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2115" y="2878857"/>
            <a:ext cx="185134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relación es lineal — </a:t>
            </a:r>
            <a:r>
              <a:rPr lang="en-US" sz="9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R² &gt; 0.90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valida la regresión lineal como modelo base sólido.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98" y="3682864"/>
            <a:ext cx="189384" cy="1893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2115" y="3676576"/>
            <a:ext cx="1851347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completo </a:t>
            </a:r>
            <a:r>
              <a:rPr lang="en-US" sz="950" i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(limpieza → escalado → entrenamiento → predicción paralela)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 funcional y reproducible.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3016300" y="156641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3016300" y="1890192"/>
            <a:ext cx="2261592" cy="1163538"/>
          </a:xfrm>
          <a:prstGeom prst="roundRect">
            <a:avLst>
              <a:gd name="adj" fmla="val 1628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7"/>
          <p:cNvSpPr/>
          <p:nvPr/>
        </p:nvSpPr>
        <p:spPr>
          <a:xfrm>
            <a:off x="3156793" y="203068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Ampliar validación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156793" y="2340397"/>
            <a:ext cx="198060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Superar los 5 registros actuales para obtener métricas estadísticamente representativas.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016300" y="3166170"/>
            <a:ext cx="2261592" cy="1354485"/>
          </a:xfrm>
          <a:prstGeom prst="roundRect">
            <a:avLst>
              <a:gd name="adj" fmla="val 1398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6" name="Text 10"/>
          <p:cNvSpPr/>
          <p:nvPr/>
        </p:nvSpPr>
        <p:spPr>
          <a:xfrm>
            <a:off x="3156793" y="3306663"/>
            <a:ext cx="178020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Análisis de importancia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156793" y="3616375"/>
            <a:ext cx="198060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Incorporar feature importance para identificar los factores de mayor peso predictivo en contexto local.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0838" y="243929"/>
            <a:ext cx="754187" cy="127471"/>
          </a:xfrm>
          <a:prstGeom prst="roundRect">
            <a:avLst>
              <a:gd name="adj" fmla="val 7507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1868612" y="267816"/>
            <a:ext cx="658639" cy="7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"/>
              </a:lnSpc>
              <a:buNone/>
            </a:pPr>
            <a:r>
              <a:rPr lang="en-US" sz="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TRABAJOS A FUTURO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820838" y="389334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Roadmap y Cierre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38" y="705743"/>
            <a:ext cx="5502325" cy="307099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838" y="705743"/>
            <a:ext cx="5502325" cy="30709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0838" y="3827190"/>
            <a:ext cx="5502325" cy="821234"/>
          </a:xfrm>
          <a:prstGeom prst="roundRect">
            <a:avLst>
              <a:gd name="adj" fmla="val 145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Shape 4"/>
          <p:cNvSpPr/>
          <p:nvPr/>
        </p:nvSpPr>
        <p:spPr>
          <a:xfrm>
            <a:off x="1820838" y="3827190"/>
            <a:ext cx="2751162" cy="410617"/>
          </a:xfrm>
          <a:prstGeom prst="roundRect">
            <a:avLst>
              <a:gd name="adj" fmla="val 2913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5"/>
          <p:cNvSpPr/>
          <p:nvPr/>
        </p:nvSpPr>
        <p:spPr>
          <a:xfrm>
            <a:off x="1900535" y="390688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 — Datos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900535" y="4058394"/>
            <a:ext cx="259176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7,995 estudiantes, 13 variables</a:t>
            </a:r>
            <a:endParaRPr lang="en-US" sz="600" dirty="0"/>
          </a:p>
        </p:txBody>
      </p:sp>
      <p:sp>
        <p:nvSpPr>
          <p:cNvPr id="11" name="Shape 7"/>
          <p:cNvSpPr/>
          <p:nvPr/>
        </p:nvSpPr>
        <p:spPr>
          <a:xfrm>
            <a:off x="4572000" y="3827190"/>
            <a:ext cx="2751162" cy="410617"/>
          </a:xfrm>
          <a:prstGeom prst="rect">
            <a:avLst/>
          </a:prstGeom>
          <a:solidFill>
            <a:srgbClr val="3A3B3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Shape 8"/>
          <p:cNvSpPr/>
          <p:nvPr/>
        </p:nvSpPr>
        <p:spPr>
          <a:xfrm>
            <a:off x="4572000" y="3827190"/>
            <a:ext cx="9525" cy="410617"/>
          </a:xfrm>
          <a:prstGeom prst="roundRect">
            <a:avLst>
              <a:gd name="adj" fmla="val 125581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9"/>
          <p:cNvSpPr/>
          <p:nvPr/>
        </p:nvSpPr>
        <p:spPr>
          <a:xfrm>
            <a:off x="4651697" y="390688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 — Información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651697" y="4058394"/>
            <a:ext cx="259176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gaming = −0.55 | study = +0.73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1820838" y="4237806"/>
            <a:ext cx="2751162" cy="410617"/>
          </a:xfrm>
          <a:prstGeom prst="rect">
            <a:avLst/>
          </a:prstGeom>
          <a:solidFill>
            <a:srgbClr val="3A3B3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Shape 12"/>
          <p:cNvSpPr/>
          <p:nvPr/>
        </p:nvSpPr>
        <p:spPr>
          <a:xfrm>
            <a:off x="1820838" y="4237806"/>
            <a:ext cx="2751162" cy="9525"/>
          </a:xfrm>
          <a:prstGeom prst="roundRect">
            <a:avLst>
              <a:gd name="adj" fmla="val 125581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Text 13"/>
          <p:cNvSpPr/>
          <p:nvPr/>
        </p:nvSpPr>
        <p:spPr>
          <a:xfrm>
            <a:off x="1900535" y="431750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 — Conocimiento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900535" y="4469011"/>
            <a:ext cx="259176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 = 5.51 | R² = 0.905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4572000" y="4237806"/>
            <a:ext cx="2751162" cy="410617"/>
          </a:xfrm>
          <a:prstGeom prst="rect">
            <a:avLst/>
          </a:prstGeom>
          <a:solidFill>
            <a:srgbClr val="3A3B3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0" name="Shape 16"/>
          <p:cNvSpPr/>
          <p:nvPr/>
        </p:nvSpPr>
        <p:spPr>
          <a:xfrm>
            <a:off x="4572000" y="4237806"/>
            <a:ext cx="9525" cy="410617"/>
          </a:xfrm>
          <a:prstGeom prst="roundRect">
            <a:avLst>
              <a:gd name="adj" fmla="val 125581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1" name="Shape 17"/>
          <p:cNvSpPr/>
          <p:nvPr/>
        </p:nvSpPr>
        <p:spPr>
          <a:xfrm>
            <a:off x="4572000" y="4237806"/>
            <a:ext cx="2751162" cy="9525"/>
          </a:xfrm>
          <a:prstGeom prst="roundRect">
            <a:avLst>
              <a:gd name="adj" fmla="val 125581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2" name="Text 18"/>
          <p:cNvSpPr/>
          <p:nvPr/>
        </p:nvSpPr>
        <p:spPr>
          <a:xfrm>
            <a:off x="4651697" y="431750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 — Sabiduría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651697" y="4469011"/>
            <a:ext cx="259176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Intervenir en hábitos de estudio y uso de dispositivos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1940421" y="4749329"/>
            <a:ext cx="5382741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podríamos integrar este modelo al sistema de alertas tempranas de la UDG?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1820838" y="4698876"/>
            <a:ext cx="9525" cy="200620"/>
          </a:xfrm>
          <a:prstGeom prst="rect">
            <a:avLst/>
          </a:prstGeom>
          <a:solidFill>
            <a:srgbClr val="EEE27D"/>
          </a:solidFill>
          <a:ln/>
        </p:spPr>
        <p:txBody>
          <a:bodyPr/>
          <a:lstStyle/>
          <a:p>
            <a:endParaRPr lang="en-MX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C5880F-D729-7757-5CF6-77CE641E2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897" y="4789805"/>
            <a:ext cx="1133102" cy="3536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704</Words>
  <Application>Microsoft Macintosh PowerPoint</Application>
  <PresentationFormat>On-screen Show (16:9)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Raleway</vt:lpstr>
      <vt:lpstr>Prata Light</vt:lpstr>
      <vt:lpstr>Arial</vt:lpstr>
      <vt:lpstr>-apple-system, BlinkMacSystemFont, Segoe UI, Roboto, Helvetica Neue, Arial, sans-serif Medium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CGMG, Dashboard presenter</cp:lastModifiedBy>
  <cp:revision>2</cp:revision>
  <dcterms:created xsi:type="dcterms:W3CDTF">2026-05-14T13:48:46Z</dcterms:created>
  <dcterms:modified xsi:type="dcterms:W3CDTF">2026-05-14T13:54:05Z</dcterms:modified>
</cp:coreProperties>
</file>